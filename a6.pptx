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10"/>
  </p:notesMasterIdLst>
  <p:sldIdLst>
    <p:sldId id="471" r:id="rId2"/>
    <p:sldId id="256" r:id="rId3"/>
    <p:sldId id="258" r:id="rId4"/>
    <p:sldId id="259" r:id="rId5"/>
    <p:sldId id="261" r:id="rId6"/>
    <p:sldId id="264" r:id="rId7"/>
    <p:sldId id="265" r:id="rId8"/>
    <p:sldId id="482" r:id="rId9"/>
  </p:sldIdLst>
  <p:sldSz cx="9144000" cy="5143500" type="screen16x9"/>
  <p:notesSz cx="6858000" cy="9144000"/>
  <p:embeddedFontLst>
    <p:embeddedFont>
      <p:font typeface="Albertus Extra Bold" panose="020B0604020202020204"/>
      <p:regular r:id="rId11"/>
    </p:embeddedFont>
    <p:embeddedFont>
      <p:font typeface="Catamaran" panose="020B0604020202020204" charset="0"/>
      <p:regular r:id="rId12"/>
      <p:bold r:id="rId13"/>
    </p:embeddedFont>
    <p:embeddedFont>
      <p:font typeface="Catamaran Thin" panose="020B0604020202020204" charset="0"/>
      <p:regular r:id="rId14"/>
      <p:bold r:id="rId15"/>
    </p:embeddedFont>
    <p:embeddedFont>
      <p:font typeface="Playfair Display Semi Bold" panose="020B0604020202020204" charset="0"/>
      <p:regular r:id="rId16"/>
    </p:embeddedFont>
    <p:embeddedFont>
      <p:font typeface="Public Sans" panose="020B0604020202020204" charset="0"/>
      <p:regular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" initials="A" lastIdx="2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1813"/>
    <a:srgbClr val="FBD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3EC2C83-4F27-46E9-AB52-EA9CB43B9D6F}">
  <a:tblStyle styleId="{93EC2C83-4F27-46E9-AB52-EA9CB43B9D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77553AC-1573-4A18-AE2D-678138A4FA2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7" autoAdjust="0"/>
    <p:restoredTop sz="94641" autoAdjust="0"/>
  </p:normalViewPr>
  <p:slideViewPr>
    <p:cSldViewPr>
      <p:cViewPr varScale="1">
        <p:scale>
          <a:sx n="112" d="100"/>
          <a:sy n="112" d="100"/>
        </p:scale>
        <p:origin x="754" y="91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54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3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sing sisodiya" userId="6c09d1f32f7f3ed8" providerId="LiveId" clId="{1BC5DC83-56E5-4E7D-BD0B-CC08ECFB378C}"/>
    <pc:docChg chg="modSld sldOrd">
      <pc:chgData name="mansing sisodiya" userId="6c09d1f32f7f3ed8" providerId="LiveId" clId="{1BC5DC83-56E5-4E7D-BD0B-CC08ECFB378C}" dt="2026-04-18T06:46:50.592" v="6" actId="14100"/>
      <pc:docMkLst>
        <pc:docMk/>
      </pc:docMkLst>
      <pc:sldChg chg="modSp mod">
        <pc:chgData name="mansing sisodiya" userId="6c09d1f32f7f3ed8" providerId="LiveId" clId="{1BC5DC83-56E5-4E7D-BD0B-CC08ECFB378C}" dt="2026-04-18T06:46:50.592" v="6" actId="14100"/>
        <pc:sldMkLst>
          <pc:docMk/>
          <pc:sldMk cId="0" sldId="471"/>
        </pc:sldMkLst>
        <pc:spChg chg="mod">
          <ac:chgData name="mansing sisodiya" userId="6c09d1f32f7f3ed8" providerId="LiveId" clId="{1BC5DC83-56E5-4E7D-BD0B-CC08ECFB378C}" dt="2026-04-18T06:46:50.592" v="6" actId="14100"/>
          <ac:spMkLst>
            <pc:docMk/>
            <pc:sldMk cId="0" sldId="471"/>
            <ac:spMk id="23" creationId="{00000000-0000-0000-0000-000000000000}"/>
          </ac:spMkLst>
        </pc:spChg>
      </pc:sldChg>
      <pc:sldChg chg="ord">
        <pc:chgData name="mansing sisodiya" userId="6c09d1f32f7f3ed8" providerId="LiveId" clId="{1BC5DC83-56E5-4E7D-BD0B-CC08ECFB378C}" dt="2026-04-18T05:53:32.359" v="1"/>
        <pc:sldMkLst>
          <pc:docMk/>
          <pc:sldMk cId="645685866" sldId="4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406050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2230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userDrawn="1">
  <p:cSld name="1_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6"/>
          <p:cNvSpPr/>
          <p:nvPr userDrawn="1"/>
        </p:nvSpPr>
        <p:spPr>
          <a:xfrm>
            <a:off x="-45517" y="57150"/>
            <a:ext cx="624020" cy="68879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grpSp>
        <p:nvGrpSpPr>
          <p:cNvPr id="3" name="Google Shape;209;p13"/>
          <p:cNvGrpSpPr/>
          <p:nvPr userDrawn="1"/>
        </p:nvGrpSpPr>
        <p:grpSpPr>
          <a:xfrm>
            <a:off x="132749" y="290263"/>
            <a:ext cx="269364" cy="224087"/>
            <a:chOff x="1926350" y="995225"/>
            <a:chExt cx="428650" cy="356600"/>
          </a:xfrm>
        </p:grpSpPr>
        <p:sp>
          <p:nvSpPr>
            <p:cNvPr id="4" name="Google Shape;210;p13"/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" name="Google Shape;211;p13"/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chemeClr val="lt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" name="Google Shape;212;p13"/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chemeClr val="lt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" name="Google Shape;213;p13"/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8" name="Google Shape;101;p6"/>
          <p:cNvSpPr txBox="1">
            <a:spLocks noGrp="1"/>
          </p:cNvSpPr>
          <p:nvPr>
            <p:ph type="title"/>
          </p:nvPr>
        </p:nvSpPr>
        <p:spPr>
          <a:xfrm>
            <a:off x="779100" y="133350"/>
            <a:ext cx="6010500" cy="548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2800">
                <a:solidFill>
                  <a:srgbClr val="81181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73;p1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 b="1">
                <a:solidFill>
                  <a:srgbClr val="811813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</p:sp>
    </p:spTree>
    <p:extLst>
      <p:ext uri="{BB962C8B-B14F-4D97-AF65-F5344CB8AC3E}">
        <p14:creationId xmlns:p14="http://schemas.microsoft.com/office/powerpoint/2010/main" val="930080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</p:sp>
    </p:spTree>
    <p:extLst>
      <p:ext uri="{BB962C8B-B14F-4D97-AF65-F5344CB8AC3E}">
        <p14:creationId xmlns:p14="http://schemas.microsoft.com/office/powerpoint/2010/main" val="947681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</p:sp>
    </p:spTree>
    <p:extLst>
      <p:ext uri="{BB962C8B-B14F-4D97-AF65-F5344CB8AC3E}">
        <p14:creationId xmlns:p14="http://schemas.microsoft.com/office/powerpoint/2010/main" val="2569786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</p:sp>
    </p:spTree>
    <p:extLst>
      <p:ext uri="{BB962C8B-B14F-4D97-AF65-F5344CB8AC3E}">
        <p14:creationId xmlns:p14="http://schemas.microsoft.com/office/powerpoint/2010/main" val="1966949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</p:sp>
    </p:spTree>
    <p:extLst>
      <p:ext uri="{BB962C8B-B14F-4D97-AF65-F5344CB8AC3E}">
        <p14:creationId xmlns:p14="http://schemas.microsoft.com/office/powerpoint/2010/main" val="219670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</p:sp>
    </p:spTree>
    <p:extLst>
      <p:ext uri="{BB962C8B-B14F-4D97-AF65-F5344CB8AC3E}">
        <p14:creationId xmlns:p14="http://schemas.microsoft.com/office/powerpoint/2010/main" val="400281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79100" y="346650"/>
            <a:ext cx="7069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79100" y="1047750"/>
            <a:ext cx="6010500" cy="28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atamaran Thin"/>
              <a:buChar char="⬢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1pPr>
            <a:lvl2pPr marL="914400" lvl="1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atamaran Thin"/>
              <a:buChar char="⬡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2pPr>
            <a:lvl3pPr marL="1371600" lvl="2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tamaran Thin"/>
              <a:buChar char="⬡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3pPr>
            <a:lvl4pPr marL="1828800" lvl="3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●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4pPr>
            <a:lvl5pPr marL="2286000" lvl="4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○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5pPr>
            <a:lvl6pPr marL="2743200" lvl="5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■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6pPr>
            <a:lvl7pPr marL="3200400" lvl="6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●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7pPr>
            <a:lvl8pPr marL="3657600" lvl="7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○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8pPr>
            <a:lvl9pPr marL="4114800" lvl="8" indent="-381000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400"/>
              <a:buFont typeface="Catamaran Thin"/>
              <a:buChar char="■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9pPr>
          </a:lstStyle>
          <a:p>
            <a:endParaRPr dirty="0"/>
          </a:p>
        </p:txBody>
      </p:sp>
      <p:grpSp>
        <p:nvGrpSpPr>
          <p:cNvPr id="28" name="Google Shape;174;p11"/>
          <p:cNvGrpSpPr/>
          <p:nvPr userDrawn="1"/>
        </p:nvGrpSpPr>
        <p:grpSpPr>
          <a:xfrm>
            <a:off x="-981075" y="-78100"/>
            <a:ext cx="11516344" cy="5221552"/>
            <a:chOff x="-981075" y="-78100"/>
            <a:chExt cx="11516344" cy="5221552"/>
          </a:xfrm>
        </p:grpSpPr>
        <p:sp>
          <p:nvSpPr>
            <p:cNvPr id="29" name="Google Shape;175;p11"/>
            <p:cNvSpPr/>
            <p:nvPr/>
          </p:nvSpPr>
          <p:spPr>
            <a:xfrm rot="10800000">
              <a:off x="4304464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0" name="Google Shape;176;p11"/>
            <p:cNvSpPr/>
            <p:nvPr/>
          </p:nvSpPr>
          <p:spPr>
            <a:xfrm rot="10800000">
              <a:off x="6419277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1" name="Google Shape;177;p11"/>
            <p:cNvSpPr/>
            <p:nvPr/>
          </p:nvSpPr>
          <p:spPr>
            <a:xfrm rot="10800000">
              <a:off x="2189989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2" name="Google Shape;178;p11"/>
            <p:cNvSpPr/>
            <p:nvPr/>
          </p:nvSpPr>
          <p:spPr>
            <a:xfrm>
              <a:off x="1133400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3" name="Google Shape;179;p11"/>
            <p:cNvSpPr/>
            <p:nvPr/>
          </p:nvSpPr>
          <p:spPr>
            <a:xfrm>
              <a:off x="3247913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4" name="Google Shape;180;p11"/>
            <p:cNvSpPr/>
            <p:nvPr/>
          </p:nvSpPr>
          <p:spPr>
            <a:xfrm>
              <a:off x="7476888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5" name="Google Shape;181;p11"/>
            <p:cNvSpPr/>
            <p:nvPr/>
          </p:nvSpPr>
          <p:spPr>
            <a:xfrm>
              <a:off x="7620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6" name="Google Shape;182;p11"/>
            <p:cNvSpPr/>
            <p:nvPr/>
          </p:nvSpPr>
          <p:spPr>
            <a:xfrm>
              <a:off x="2190677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7" name="Google Shape;183;p11"/>
            <p:cNvSpPr/>
            <p:nvPr/>
          </p:nvSpPr>
          <p:spPr>
            <a:xfrm>
              <a:off x="641963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8" name="Google Shape;184;p11"/>
            <p:cNvSpPr/>
            <p:nvPr/>
          </p:nvSpPr>
          <p:spPr>
            <a:xfrm>
              <a:off x="8534106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9" name="Google Shape;185;p11"/>
            <p:cNvSpPr/>
            <p:nvPr/>
          </p:nvSpPr>
          <p:spPr>
            <a:xfrm>
              <a:off x="-98107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811813">
                <a:alpha val="10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0" name="Google Shape;186;p11"/>
            <p:cNvSpPr/>
            <p:nvPr/>
          </p:nvSpPr>
          <p:spPr>
            <a:xfrm>
              <a:off x="3247878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1" name="Google Shape;187;p11"/>
            <p:cNvSpPr/>
            <p:nvPr/>
          </p:nvSpPr>
          <p:spPr>
            <a:xfrm>
              <a:off x="536235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2" name="Google Shape;188;p11"/>
            <p:cNvSpPr/>
            <p:nvPr/>
          </p:nvSpPr>
          <p:spPr>
            <a:xfrm>
              <a:off x="7848601" y="18269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3" name="Google Shape;189;p11"/>
            <p:cNvSpPr/>
            <p:nvPr/>
          </p:nvSpPr>
          <p:spPr>
            <a:xfrm>
              <a:off x="1448201" y="-781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4" name="Google Shape;190;p11"/>
            <p:cNvSpPr/>
            <p:nvPr/>
          </p:nvSpPr>
          <p:spPr>
            <a:xfrm>
              <a:off x="-581024" y="334095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5" name="Google Shape;191;p11"/>
            <p:cNvSpPr/>
            <p:nvPr/>
          </p:nvSpPr>
          <p:spPr>
            <a:xfrm>
              <a:off x="1152450" y="131360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6" name="Google Shape;192;p11"/>
            <p:cNvSpPr/>
            <p:nvPr/>
          </p:nvSpPr>
          <p:spPr>
            <a:xfrm>
              <a:off x="7496375" y="316145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7" name="Google Shape;193;p11"/>
            <p:cNvSpPr/>
            <p:nvPr/>
          </p:nvSpPr>
          <p:spPr>
            <a:xfrm rot="10800000">
              <a:off x="7744475" y="-9"/>
              <a:ext cx="1027674" cy="752485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pic>
        <p:nvPicPr>
          <p:cNvPr id="48" name="Picture 47" descr="VGU_Logo_PNG.png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900130" y="0"/>
            <a:ext cx="1243870" cy="112395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chemeClr val="bg1">
                <a:alpha val="80000"/>
              </a:schemeClr>
            </a:outerShdw>
          </a:effectLst>
        </p:spPr>
      </p:pic>
      <p:sp>
        <p:nvSpPr>
          <p:cNvPr id="50" name="Google Shape;173;p11"/>
          <p:cNvSpPr txBox="1">
            <a:spLocks noGrp="1"/>
          </p:cNvSpPr>
          <p:nvPr>
            <p:ph type="sldNum" idx="4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b="1"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" dirty="0"/>
              <a:t>/</a:t>
            </a:r>
            <a:fld id="{00000000-1234-1234-1234-123412341234}" type="slidenum">
              <a:rPr lang="en" smtClean="0">
                <a:solidFill>
                  <a:srgbClr val="811813"/>
                </a:solidFill>
              </a:rPr>
              <a:pPr/>
              <a:t>‹#›</a:t>
            </a:fld>
            <a:endParaRPr lang="en" dirty="0">
              <a:solidFill>
                <a:srgbClr val="811813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3" r:id="rId3"/>
    <p:sldLayoutId id="2147483664" r:id="rId4"/>
    <p:sldLayoutId id="2147483666" r:id="rId5"/>
    <p:sldLayoutId id="2147483669" r:id="rId6"/>
    <p:sldLayoutId id="2147483670" r:id="rId7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000" b="0" i="0" u="none" strike="noStrike" cap="none">
          <a:solidFill>
            <a:schemeClr val="bg1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1813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xagon 3"/>
          <p:cNvSpPr/>
          <p:nvPr/>
        </p:nvSpPr>
        <p:spPr>
          <a:xfrm>
            <a:off x="-381000" y="0"/>
            <a:ext cx="1767840" cy="1524000"/>
          </a:xfrm>
          <a:prstGeom prst="hexagon">
            <a:avLst/>
          </a:prstGeom>
          <a:solidFill>
            <a:srgbClr val="4202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Catamaran" charset="0"/>
              <a:cs typeface="Catamaran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4892965"/>
            <a:ext cx="9144000" cy="269585"/>
          </a:xfrm>
          <a:prstGeom prst="rect">
            <a:avLst/>
          </a:prstGeom>
          <a:solidFill>
            <a:srgbClr val="3C0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  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2984444" y="324986"/>
            <a:ext cx="3063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C000"/>
                </a:solidFill>
                <a:latin typeface="Catamaran" charset="0"/>
                <a:cs typeface="Catamaran" charset="0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214" y="1046946"/>
            <a:ext cx="678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atamaran" charset="0"/>
                <a:cs typeface="Catamaran" charset="0"/>
              </a:rPr>
              <a:t>CPU SCHEDULING ALGORITHM SIMULATOR</a:t>
            </a:r>
          </a:p>
        </p:txBody>
      </p:sp>
      <p:pic>
        <p:nvPicPr>
          <p:cNvPr id="1027" name="Picture 3" descr="C:\Users\Shekhawat\Desktop\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24558"/>
            <a:ext cx="9122228" cy="1235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-281369" y="2525320"/>
            <a:ext cx="29086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200" b="1" dirty="0">
                <a:solidFill>
                  <a:schemeClr val="bg1"/>
                </a:solidFill>
                <a:latin typeface="Catamaran" charset="0"/>
                <a:cs typeface="Catamaran" charset="0"/>
              </a:rPr>
              <a:t>Presenter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721522" y="2912529"/>
            <a:ext cx="624857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5" marR="4445" algn="ctr">
              <a:spcBef>
                <a:spcPts val="805"/>
              </a:spcBef>
            </a:pPr>
            <a:r>
              <a:rPr lang="en-US" dirty="0">
                <a:solidFill>
                  <a:srgbClr val="FFFF00"/>
                </a:solidFill>
              </a:rPr>
              <a:t>MANSINGH : 24TEC2AIDS039</a:t>
            </a:r>
          </a:p>
          <a:p>
            <a:pPr marL="635" marR="4445" algn="ctr">
              <a:spcBef>
                <a:spcPts val="805"/>
              </a:spcBef>
            </a:pPr>
            <a:r>
              <a:rPr lang="en-US" dirty="0">
                <a:solidFill>
                  <a:srgbClr val="FFFF00"/>
                </a:solidFill>
              </a:rPr>
              <a:t>           MISHIMAN SINGH: 24TEC2AIDS100</a:t>
            </a:r>
            <a:endParaRPr lang="en-IN" dirty="0">
              <a:solidFill>
                <a:srgbClr val="FFFF00"/>
              </a:solidFill>
            </a:endParaRPr>
          </a:p>
          <a:p>
            <a:pPr marL="635" marR="4445" algn="ctr">
              <a:spcBef>
                <a:spcPts val="805"/>
              </a:spcBef>
            </a:pPr>
            <a:r>
              <a:rPr lang="en-US" dirty="0">
                <a:solidFill>
                  <a:srgbClr val="FFFF00"/>
                </a:solidFill>
              </a:rPr>
              <a:t>          MEHUL SHARMA: 24TEC2AIDS098</a:t>
            </a:r>
          </a:p>
          <a:p>
            <a:pPr marL="635" marR="4445" algn="ctr">
              <a:spcBef>
                <a:spcPts val="805"/>
              </a:spcBef>
            </a:pPr>
            <a:r>
              <a:rPr lang="en-US" dirty="0">
                <a:solidFill>
                  <a:srgbClr val="FFFF00"/>
                </a:solidFill>
              </a:rPr>
              <a:t>                     PRIYANSHU SHEKHAR : 24TEC2AIDS103</a:t>
            </a:r>
            <a:endParaRPr lang="en-IN" dirty="0">
              <a:solidFill>
                <a:srgbClr val="FFFF00"/>
              </a:solidFill>
            </a:endParaRPr>
          </a:p>
          <a:p>
            <a:endParaRPr lang="en-US" sz="1600" b="1" dirty="0">
              <a:solidFill>
                <a:srgbClr val="FFC000"/>
              </a:solidFill>
              <a:latin typeface="Catamaran" charset="0"/>
              <a:cs typeface="Catamaran" charset="0"/>
            </a:endParaRPr>
          </a:p>
        </p:txBody>
      </p:sp>
      <p:sp>
        <p:nvSpPr>
          <p:cNvPr id="16" name="Hexagon 15"/>
          <p:cNvSpPr/>
          <p:nvPr/>
        </p:nvSpPr>
        <p:spPr>
          <a:xfrm>
            <a:off x="1386840" y="-28443"/>
            <a:ext cx="1311675" cy="1130754"/>
          </a:xfrm>
          <a:prstGeom prst="hexagon">
            <a:avLst/>
          </a:prstGeom>
          <a:solidFill>
            <a:srgbClr val="7012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 flipV="1">
            <a:off x="1447800" y="1964548"/>
            <a:ext cx="6275614" cy="45719"/>
          </a:xfrm>
          <a:prstGeom prst="rect">
            <a:avLst/>
          </a:prstGeom>
          <a:solidFill>
            <a:srgbClr val="FFBF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/>
          <p:cNvSpPr/>
          <p:nvPr/>
        </p:nvSpPr>
        <p:spPr>
          <a:xfrm>
            <a:off x="8727967" y="1840848"/>
            <a:ext cx="1767840" cy="1524000"/>
          </a:xfrm>
          <a:prstGeom prst="hexagon">
            <a:avLst/>
          </a:prstGeom>
          <a:solidFill>
            <a:srgbClr val="4202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Hexagon 18"/>
          <p:cNvSpPr/>
          <p:nvPr/>
        </p:nvSpPr>
        <p:spPr>
          <a:xfrm>
            <a:off x="7509191" y="2644715"/>
            <a:ext cx="1311675" cy="1130754"/>
          </a:xfrm>
          <a:prstGeom prst="hexagon">
            <a:avLst/>
          </a:prstGeom>
          <a:solidFill>
            <a:srgbClr val="7012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Hexagon 20"/>
          <p:cNvSpPr/>
          <p:nvPr/>
        </p:nvSpPr>
        <p:spPr>
          <a:xfrm>
            <a:off x="7754122" y="1519127"/>
            <a:ext cx="1104473" cy="952132"/>
          </a:xfrm>
          <a:prstGeom prst="hexagon">
            <a:avLst/>
          </a:prstGeom>
          <a:solidFill>
            <a:srgbClr val="7012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754122" y="4781550"/>
            <a:ext cx="12955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tamaran" charset="0"/>
                <a:cs typeface="Catamaran" charset="0"/>
              </a:rPr>
              <a:t>www.vgu.ac.in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" y="4778573"/>
            <a:ext cx="16450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Catamaran" charset="0"/>
                <a:cs typeface="Catamaran" charset="0"/>
              </a:rPr>
              <a:t>Date:- 30/04/2026</a:t>
            </a:r>
            <a:endParaRPr lang="en-US" b="1" dirty="0">
              <a:solidFill>
                <a:schemeClr val="bg1"/>
              </a:solidFill>
              <a:latin typeface="Catamaran" charset="0"/>
              <a:cs typeface="Catamaran" charset="0"/>
            </a:endParaRPr>
          </a:p>
        </p:txBody>
      </p:sp>
      <p:sp>
        <p:nvSpPr>
          <p:cNvPr id="27" name="Google Shape;189;p11"/>
          <p:cNvSpPr/>
          <p:nvPr/>
        </p:nvSpPr>
        <p:spPr>
          <a:xfrm>
            <a:off x="1658929" y="-53042"/>
            <a:ext cx="1371581" cy="1514058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accent2">
              <a:lumMod val="75000"/>
              <a:alpha val="14000"/>
            </a:scheme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pic>
        <p:nvPicPr>
          <p:cNvPr id="31" name="Picture 30" descr="5dd2728da0d97e2f240c63c54cf095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1581150"/>
            <a:ext cx="425450" cy="2667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48600" y="1864608"/>
            <a:ext cx="918841" cy="594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lbertus Extra Bold" pitchFamily="34" charset="0"/>
              </a:rPr>
              <a:t>PRAYAS</a:t>
            </a:r>
          </a:p>
          <a:p>
            <a:pPr algn="ctr"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  <a:latin typeface="Albertus Extra Bold" pitchFamily="34" charset="0"/>
              </a:rPr>
              <a:t>2025</a:t>
            </a:r>
            <a:endParaRPr lang="en-US" dirty="0">
              <a:solidFill>
                <a:schemeClr val="bg1"/>
              </a:solidFill>
              <a:latin typeface="Albertus Extra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6" y="5338"/>
            <a:ext cx="2024834" cy="100922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973141" y="4317566"/>
            <a:ext cx="38100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FF00"/>
                </a:solidFill>
                <a:latin typeface="Catamaran" charset="0"/>
                <a:cs typeface="Catamaran" charset="0"/>
              </a:rPr>
              <a:t>Submitted to:-Mrs. Ruchi</a:t>
            </a:r>
            <a:endParaRPr lang="en-US" sz="16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7719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9612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1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CPU Scheduling Algorithm Simulator</a:t>
            </a:r>
            <a:endParaRPr lang="en-US" sz="2781" dirty="0"/>
          </a:p>
        </p:txBody>
      </p:sp>
      <p:sp>
        <p:nvSpPr>
          <p:cNvPr id="4" name="Text 1"/>
          <p:cNvSpPr/>
          <p:nvPr/>
        </p:nvSpPr>
        <p:spPr>
          <a:xfrm>
            <a:off x="3925119" y="2794695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Simulation-Based Study of Process Scheduling in Operating Systems</a:t>
            </a:r>
            <a:endParaRPr lang="en-US" sz="1094" dirty="0"/>
          </a:p>
        </p:txBody>
      </p:sp>
      <p:sp>
        <p:nvSpPr>
          <p:cNvPr id="5" name="Shape 2"/>
          <p:cNvSpPr/>
          <p:nvPr/>
        </p:nvSpPr>
        <p:spPr>
          <a:xfrm>
            <a:off x="3925119" y="3180978"/>
            <a:ext cx="2608139" cy="266403"/>
          </a:xfrm>
          <a:prstGeom prst="roundRect">
            <a:avLst>
              <a:gd name="adj" fmla="val 17880"/>
            </a:avLst>
          </a:prstGeom>
          <a:solidFill>
            <a:srgbClr val="EEDDDD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223468"/>
            <a:ext cx="243802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06"/>
              </a:lnSpc>
            </a:pPr>
            <a:r>
              <a:rPr lang="en-US" sz="875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B.TECH CSE · OPERATING SYSTEMS PROJECT</a:t>
            </a:r>
            <a:endParaRPr lang="en-US" sz="875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40E7B8-D2FA-232E-88F1-675235FD09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6" y="53523"/>
            <a:ext cx="2024834" cy="10092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7406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1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Project Objectives</a:t>
            </a:r>
            <a:endParaRPr lang="en-US" sz="2781" dirty="0"/>
          </a:p>
        </p:txBody>
      </p:sp>
      <p:sp>
        <p:nvSpPr>
          <p:cNvPr id="3" name="Text 1"/>
          <p:cNvSpPr/>
          <p:nvPr/>
        </p:nvSpPr>
        <p:spPr>
          <a:xfrm>
            <a:off x="496119" y="1163911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This project aims to bridge theory and practice by building an interactive CPU scheduling simulator.</a:t>
            </a:r>
            <a:endParaRPr lang="en-US" sz="1094" dirty="0"/>
          </a:p>
        </p:txBody>
      </p:sp>
      <p:sp>
        <p:nvSpPr>
          <p:cNvPr id="4" name="Shape 2"/>
          <p:cNvSpPr/>
          <p:nvPr/>
        </p:nvSpPr>
        <p:spPr>
          <a:xfrm>
            <a:off x="496119" y="1550194"/>
            <a:ext cx="4004965" cy="1507034"/>
          </a:xfrm>
          <a:prstGeom prst="roundRect">
            <a:avLst>
              <a:gd name="adj" fmla="val 3951"/>
            </a:avLst>
          </a:prstGeom>
          <a:solidFill>
            <a:srgbClr val="FFFAF6"/>
          </a:solidFill>
          <a:ln w="30480">
            <a:solidFill>
              <a:srgbClr val="E1C2C2"/>
            </a:solidFill>
            <a:prstDash val="solid"/>
          </a:ln>
          <a:effectLst>
            <a:outerShdw dist="29210" dir="2700000" algn="bl" rotWithShape="0">
              <a:srgbClr val="E1C2C2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15169" y="1569244"/>
            <a:ext cx="3966865" cy="425276"/>
          </a:xfrm>
          <a:prstGeom prst="roundRect">
            <a:avLst>
              <a:gd name="adj" fmla="val 8626"/>
            </a:avLst>
          </a:prstGeom>
          <a:solidFill>
            <a:srgbClr val="E1C2C2">
              <a:alpha val="50000"/>
            </a:srgbClr>
          </a:solidFill>
          <a:ln/>
          <a:effectLst>
            <a:outerShdw dist="29210" dir="2700000" algn="bl" rotWithShape="0">
              <a:srgbClr val="C7A8A8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392263" y="1646560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6"/>
              </a:lnSpc>
            </a:pPr>
            <a:r>
              <a:rPr lang="en-US" sz="1656" dirty="0"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1</a:t>
            </a:r>
            <a:endParaRPr lang="en-US" sz="1656" dirty="0"/>
          </a:p>
        </p:txBody>
      </p:sp>
      <p:sp>
        <p:nvSpPr>
          <p:cNvPr id="7" name="Text 5"/>
          <p:cNvSpPr/>
          <p:nvPr/>
        </p:nvSpPr>
        <p:spPr>
          <a:xfrm>
            <a:off x="656928" y="213627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Design &amp; Develop</a:t>
            </a:r>
            <a:endParaRPr lang="en-US" sz="1375" dirty="0"/>
          </a:p>
        </p:txBody>
      </p:sp>
      <p:sp>
        <p:nvSpPr>
          <p:cNvPr id="8" name="Text 6"/>
          <p:cNvSpPr/>
          <p:nvPr/>
        </p:nvSpPr>
        <p:spPr>
          <a:xfrm>
            <a:off x="656927" y="2442791"/>
            <a:ext cx="368334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Build a fully functional CPU scheduling simulator from the ground up</a:t>
            </a:r>
            <a:endParaRPr lang="en-US" sz="1094" dirty="0"/>
          </a:p>
        </p:txBody>
      </p:sp>
      <p:sp>
        <p:nvSpPr>
          <p:cNvPr id="9" name="Shape 7"/>
          <p:cNvSpPr/>
          <p:nvPr/>
        </p:nvSpPr>
        <p:spPr>
          <a:xfrm>
            <a:off x="4642843" y="1550194"/>
            <a:ext cx="4005039" cy="1507034"/>
          </a:xfrm>
          <a:prstGeom prst="roundRect">
            <a:avLst>
              <a:gd name="adj" fmla="val 3951"/>
            </a:avLst>
          </a:prstGeom>
          <a:solidFill>
            <a:srgbClr val="FFFAF6"/>
          </a:solidFill>
          <a:ln w="30480">
            <a:solidFill>
              <a:srgbClr val="CCC4EC"/>
            </a:solidFill>
            <a:prstDash val="solid"/>
          </a:ln>
          <a:effectLst>
            <a:outerShdw dist="29210" dir="2700000" algn="bl" rotWithShape="0">
              <a:srgbClr val="CCC4EC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1892" y="1569244"/>
            <a:ext cx="3966939" cy="425276"/>
          </a:xfrm>
          <a:prstGeom prst="roundRect">
            <a:avLst>
              <a:gd name="adj" fmla="val 8626"/>
            </a:avLst>
          </a:prstGeom>
          <a:solidFill>
            <a:srgbClr val="CCC4EC">
              <a:alpha val="50000"/>
            </a:srgbClr>
          </a:solidFill>
          <a:ln/>
          <a:effectLst>
            <a:outerShdw dist="29210" dir="2700000" algn="bl" rotWithShape="0">
              <a:srgbClr val="B2AAD2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9061" y="1646560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6"/>
              </a:lnSpc>
            </a:pPr>
            <a:r>
              <a:rPr lang="en-US" sz="1656" dirty="0"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2</a:t>
            </a:r>
            <a:endParaRPr lang="en-US" sz="1656" dirty="0"/>
          </a:p>
        </p:txBody>
      </p:sp>
      <p:sp>
        <p:nvSpPr>
          <p:cNvPr id="12" name="Text 10"/>
          <p:cNvSpPr/>
          <p:nvPr/>
        </p:nvSpPr>
        <p:spPr>
          <a:xfrm>
            <a:off x="4803652" y="2136279"/>
            <a:ext cx="18290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Implement Algorithms</a:t>
            </a:r>
            <a:endParaRPr lang="en-US" sz="1375" dirty="0"/>
          </a:p>
        </p:txBody>
      </p:sp>
      <p:sp>
        <p:nvSpPr>
          <p:cNvPr id="13" name="Text 11"/>
          <p:cNvSpPr/>
          <p:nvPr/>
        </p:nvSpPr>
        <p:spPr>
          <a:xfrm>
            <a:off x="4803652" y="2442791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 multiple classic scheduling algorithms for direct comparison</a:t>
            </a:r>
            <a:endParaRPr lang="en-US" sz="1094" dirty="0"/>
          </a:p>
        </p:txBody>
      </p:sp>
      <p:sp>
        <p:nvSpPr>
          <p:cNvPr id="14" name="Shape 12"/>
          <p:cNvSpPr/>
          <p:nvPr/>
        </p:nvSpPr>
        <p:spPr>
          <a:xfrm>
            <a:off x="496119" y="3198986"/>
            <a:ext cx="4004965" cy="1507034"/>
          </a:xfrm>
          <a:prstGeom prst="roundRect">
            <a:avLst>
              <a:gd name="adj" fmla="val 3951"/>
            </a:avLst>
          </a:prstGeom>
          <a:solidFill>
            <a:srgbClr val="FFFAF6"/>
          </a:solidFill>
          <a:ln w="30480">
            <a:solidFill>
              <a:srgbClr val="B4DAE4"/>
            </a:solidFill>
            <a:prstDash val="solid"/>
          </a:ln>
          <a:effectLst>
            <a:outerShdw dist="29210" dir="2700000" algn="bl" rotWithShape="0">
              <a:srgbClr val="B4DAE4">
                <a:alpha val="10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5169" y="3218036"/>
            <a:ext cx="3966865" cy="425276"/>
          </a:xfrm>
          <a:prstGeom prst="roundRect">
            <a:avLst>
              <a:gd name="adj" fmla="val 8626"/>
            </a:avLst>
          </a:prstGeom>
          <a:solidFill>
            <a:srgbClr val="B4DAE4">
              <a:alpha val="50000"/>
            </a:srgbClr>
          </a:solidFill>
          <a:ln/>
          <a:effectLst>
            <a:outerShdw dist="29210" dir="2700000" algn="bl" rotWithShape="0">
              <a:srgbClr val="9AC0CA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392263" y="3295353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6"/>
              </a:lnSpc>
            </a:pPr>
            <a:r>
              <a:rPr lang="en-US" sz="1656" dirty="0"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3</a:t>
            </a:r>
            <a:endParaRPr lang="en-US" sz="1656" dirty="0"/>
          </a:p>
        </p:txBody>
      </p:sp>
      <p:sp>
        <p:nvSpPr>
          <p:cNvPr id="17" name="Text 15"/>
          <p:cNvSpPr/>
          <p:nvPr/>
        </p:nvSpPr>
        <p:spPr>
          <a:xfrm>
            <a:off x="656928" y="378507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Analyze Metrics</a:t>
            </a:r>
            <a:endParaRPr lang="en-US" sz="1375" dirty="0"/>
          </a:p>
        </p:txBody>
      </p:sp>
      <p:sp>
        <p:nvSpPr>
          <p:cNvPr id="18" name="Text 16"/>
          <p:cNvSpPr/>
          <p:nvPr/>
        </p:nvSpPr>
        <p:spPr>
          <a:xfrm>
            <a:off x="656927" y="4091584"/>
            <a:ext cx="368334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Measure waiting time, turnaround time, and overall efficiency</a:t>
            </a:r>
            <a:endParaRPr lang="en-US" sz="1094" dirty="0"/>
          </a:p>
        </p:txBody>
      </p:sp>
      <p:sp>
        <p:nvSpPr>
          <p:cNvPr id="19" name="Shape 17"/>
          <p:cNvSpPr/>
          <p:nvPr/>
        </p:nvSpPr>
        <p:spPr>
          <a:xfrm>
            <a:off x="4642843" y="3198986"/>
            <a:ext cx="4005039" cy="1507034"/>
          </a:xfrm>
          <a:prstGeom prst="roundRect">
            <a:avLst>
              <a:gd name="adj" fmla="val 3951"/>
            </a:avLst>
          </a:prstGeom>
          <a:solidFill>
            <a:srgbClr val="FFFAF6"/>
          </a:solidFill>
          <a:ln w="30480">
            <a:solidFill>
              <a:srgbClr val="E1C2C2"/>
            </a:solidFill>
            <a:prstDash val="solid"/>
          </a:ln>
          <a:effectLst>
            <a:outerShdw dist="29210" dir="2700000" algn="bl" rotWithShape="0">
              <a:srgbClr val="E1C2C2">
                <a:alpha val="10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1892" y="3218036"/>
            <a:ext cx="3966939" cy="425276"/>
          </a:xfrm>
          <a:prstGeom prst="roundRect">
            <a:avLst>
              <a:gd name="adj" fmla="val 8626"/>
            </a:avLst>
          </a:prstGeom>
          <a:solidFill>
            <a:srgbClr val="E1C2C2">
              <a:alpha val="50000"/>
            </a:srgbClr>
          </a:solidFill>
          <a:ln/>
          <a:effectLst>
            <a:outerShdw dist="29210" dir="2700000" algn="bl" rotWithShape="0">
              <a:srgbClr val="C7A8A8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39061" y="3295353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6"/>
              </a:lnSpc>
            </a:pPr>
            <a:r>
              <a:rPr lang="en-US" sz="1656" dirty="0"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4</a:t>
            </a:r>
            <a:endParaRPr lang="en-US" sz="1656" dirty="0"/>
          </a:p>
        </p:txBody>
      </p:sp>
      <p:sp>
        <p:nvSpPr>
          <p:cNvPr id="22" name="Text 20"/>
          <p:cNvSpPr/>
          <p:nvPr/>
        </p:nvSpPr>
        <p:spPr>
          <a:xfrm>
            <a:off x="4803652" y="378507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Visualize Execution</a:t>
            </a:r>
            <a:endParaRPr lang="en-US" sz="1375" dirty="0"/>
          </a:p>
        </p:txBody>
      </p:sp>
      <p:sp>
        <p:nvSpPr>
          <p:cNvPr id="23" name="Text 21"/>
          <p:cNvSpPr/>
          <p:nvPr/>
        </p:nvSpPr>
        <p:spPr>
          <a:xfrm>
            <a:off x="4803652" y="4091584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Generate Gantt charts to illustrate process execution timelines</a:t>
            </a:r>
            <a:endParaRPr lang="en-US" sz="1094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A65650D-AAED-BDCE-6AB0-51F0B3463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6" y="5338"/>
            <a:ext cx="2024834" cy="10092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41" y="659681"/>
            <a:ext cx="5201469" cy="294746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21884" y="736625"/>
            <a:ext cx="1469454" cy="264765"/>
          </a:xfrm>
          <a:prstGeom prst="roundRect">
            <a:avLst>
              <a:gd name="adj" fmla="val 17429"/>
            </a:avLst>
          </a:prstGeom>
          <a:noFill/>
          <a:ln w="7620">
            <a:solidFill>
              <a:srgbClr val="E1C2C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109023" y="782539"/>
            <a:ext cx="1295177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44"/>
              </a:lnSpc>
            </a:pPr>
            <a:r>
              <a:rPr lang="en-US" sz="844" dirty="0">
                <a:solidFill>
                  <a:srgbClr val="E1C2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SYSTEM ARCHITECTURE</a:t>
            </a:r>
            <a:endParaRPr lang="en-US" sz="844" dirty="0"/>
          </a:p>
        </p:txBody>
      </p:sp>
      <p:sp>
        <p:nvSpPr>
          <p:cNvPr id="5" name="Text 2"/>
          <p:cNvSpPr/>
          <p:nvPr/>
        </p:nvSpPr>
        <p:spPr>
          <a:xfrm>
            <a:off x="6021884" y="1054597"/>
            <a:ext cx="2646164" cy="858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75"/>
              </a:lnSpc>
            </a:pPr>
            <a:r>
              <a:rPr lang="en-US" sz="2688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How the Simulator Works</a:t>
            </a:r>
            <a:endParaRPr lang="en-US" sz="2688" dirty="0"/>
          </a:p>
        </p:txBody>
      </p:sp>
      <p:sp>
        <p:nvSpPr>
          <p:cNvPr id="6" name="Text 3"/>
          <p:cNvSpPr/>
          <p:nvPr/>
        </p:nvSpPr>
        <p:spPr>
          <a:xfrm>
            <a:off x="6021884" y="2045866"/>
            <a:ext cx="2646164" cy="1514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simulator is a software-based tool that models real CPU scheduling behavior. It accepts user-defined process parameters, applies the selected algorithm, and produces a clear visual output of execution order and performance results.</a:t>
            </a:r>
            <a:endParaRPr lang="en-US" sz="1063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2135" y="3910683"/>
            <a:ext cx="205978" cy="20597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6902" y="3906441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344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Accept Input</a:t>
            </a:r>
            <a:endParaRPr lang="en-US" sz="1344" dirty="0"/>
          </a:p>
        </p:txBody>
      </p:sp>
      <p:sp>
        <p:nvSpPr>
          <p:cNvPr id="9" name="Text 5"/>
          <p:cNvSpPr/>
          <p:nvPr/>
        </p:nvSpPr>
        <p:spPr>
          <a:xfrm>
            <a:off x="926902" y="4200749"/>
            <a:ext cx="2170435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Process ID, arrival time, burst time, priority</a:t>
            </a:r>
            <a:endParaRPr lang="en-US" sz="1063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15072" y="3910683"/>
            <a:ext cx="205978" cy="20597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709839" y="3906441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344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Apply Algorithm</a:t>
            </a:r>
            <a:endParaRPr lang="en-US" sz="1344" dirty="0"/>
          </a:p>
        </p:txBody>
      </p:sp>
      <p:sp>
        <p:nvSpPr>
          <p:cNvPr id="12" name="Text 7"/>
          <p:cNvSpPr/>
          <p:nvPr/>
        </p:nvSpPr>
        <p:spPr>
          <a:xfrm>
            <a:off x="3709839" y="4200749"/>
            <a:ext cx="2170509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User selects FCFS, SJF, Round Robin, or Priority</a:t>
            </a:r>
            <a:endParaRPr lang="en-US" sz="1063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8084" y="3910683"/>
            <a:ext cx="205978" cy="20597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92850" y="3906441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344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Display Results</a:t>
            </a:r>
            <a:endParaRPr lang="en-US" sz="1344" dirty="0"/>
          </a:p>
        </p:txBody>
      </p:sp>
      <p:sp>
        <p:nvSpPr>
          <p:cNvPr id="15" name="Text 9"/>
          <p:cNvSpPr/>
          <p:nvPr/>
        </p:nvSpPr>
        <p:spPr>
          <a:xfrm>
            <a:off x="6492850" y="4200749"/>
            <a:ext cx="2170435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Gantt chart, waiting time, and turnaround metrics</a:t>
            </a:r>
            <a:endParaRPr lang="en-US" sz="106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182" y="1270397"/>
            <a:ext cx="2349178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31"/>
              </a:lnSpc>
            </a:pPr>
            <a:r>
              <a:rPr lang="en-US" sz="2031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Input Parameters</a:t>
            </a:r>
            <a:endParaRPr lang="en-US" sz="2031" dirty="0"/>
          </a:p>
        </p:txBody>
      </p:sp>
      <p:sp>
        <p:nvSpPr>
          <p:cNvPr id="3" name="Text 1"/>
          <p:cNvSpPr/>
          <p:nvPr/>
        </p:nvSpPr>
        <p:spPr>
          <a:xfrm>
            <a:off x="980182" y="1672159"/>
            <a:ext cx="2349178" cy="433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5"/>
              </a:lnSpc>
            </a:pPr>
            <a:r>
              <a:rPr lang="en-US" sz="813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simulator requires the following process attributes to model scheduling behavior accurately:</a:t>
            </a:r>
            <a:endParaRPr lang="en-US" sz="81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8023" y="386358"/>
            <a:ext cx="4580409" cy="259556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80182" y="3153817"/>
            <a:ext cx="1738536" cy="878607"/>
          </a:xfrm>
          <a:prstGeom prst="roundRect">
            <a:avLst>
              <a:gd name="adj" fmla="val 7806"/>
            </a:avLst>
          </a:prstGeom>
          <a:solidFill>
            <a:srgbClr val="FFFAF6"/>
          </a:solidFill>
          <a:ln w="22860">
            <a:solidFill>
              <a:srgbClr val="E1C2C2"/>
            </a:solidFill>
            <a:prstDash val="solid"/>
          </a:ln>
          <a:effectLst>
            <a:outerShdw dist="21590" dir="2700000" algn="bl" rotWithShape="0">
              <a:srgbClr val="E1C2C2">
                <a:alpha val="1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5894" y="3153817"/>
            <a:ext cx="57150" cy="878607"/>
          </a:xfrm>
          <a:prstGeom prst="roundRect">
            <a:avLst>
              <a:gd name="adj" fmla="val 76512"/>
            </a:avLst>
          </a:prstGeom>
          <a:solidFill>
            <a:srgbClr val="E1C2C2"/>
          </a:solidFill>
          <a:ln/>
        </p:spPr>
      </p:sp>
      <p:sp>
        <p:nvSpPr>
          <p:cNvPr id="7" name="Text 4"/>
          <p:cNvSpPr/>
          <p:nvPr/>
        </p:nvSpPr>
        <p:spPr>
          <a:xfrm>
            <a:off x="1141438" y="3272210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50"/>
              </a:lnSpc>
            </a:pPr>
            <a:r>
              <a:rPr lang="en-US" sz="10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Process ID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41437" y="3480718"/>
            <a:ext cx="1458888" cy="288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5"/>
              </a:lnSpc>
            </a:pPr>
            <a:r>
              <a:rPr lang="en-US" sz="813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Unique identifier for each process (P1, P2, …)</a:t>
            </a:r>
            <a:endParaRPr lang="en-US" sz="813" dirty="0"/>
          </a:p>
        </p:txBody>
      </p:sp>
      <p:sp>
        <p:nvSpPr>
          <p:cNvPr id="9" name="Shape 6"/>
          <p:cNvSpPr/>
          <p:nvPr/>
        </p:nvSpPr>
        <p:spPr>
          <a:xfrm>
            <a:off x="2795141" y="3153817"/>
            <a:ext cx="1738610" cy="878607"/>
          </a:xfrm>
          <a:prstGeom prst="roundRect">
            <a:avLst>
              <a:gd name="adj" fmla="val 7806"/>
            </a:avLst>
          </a:prstGeom>
          <a:solidFill>
            <a:srgbClr val="FFFAF6"/>
          </a:solidFill>
          <a:ln w="22860">
            <a:solidFill>
              <a:srgbClr val="CCC4EC"/>
            </a:solidFill>
            <a:prstDash val="solid"/>
          </a:ln>
          <a:effectLst>
            <a:outerShdw dist="21590" dir="2700000" algn="bl" rotWithShape="0">
              <a:srgbClr val="CCC4EC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80854" y="3153817"/>
            <a:ext cx="57150" cy="878607"/>
          </a:xfrm>
          <a:prstGeom prst="roundRect">
            <a:avLst>
              <a:gd name="adj" fmla="val 76512"/>
            </a:avLst>
          </a:prstGeom>
          <a:solidFill>
            <a:srgbClr val="CCC4EC"/>
          </a:solidFill>
          <a:ln/>
        </p:spPr>
      </p:sp>
      <p:sp>
        <p:nvSpPr>
          <p:cNvPr id="11" name="Text 8"/>
          <p:cNvSpPr/>
          <p:nvPr/>
        </p:nvSpPr>
        <p:spPr>
          <a:xfrm>
            <a:off x="2956397" y="3272210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50"/>
              </a:lnSpc>
            </a:pPr>
            <a:r>
              <a:rPr lang="en-US" sz="10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Arrival Time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956397" y="3480718"/>
            <a:ext cx="1458962" cy="288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5"/>
              </a:lnSpc>
            </a:pPr>
            <a:r>
              <a:rPr lang="en-US" sz="813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Time at which the process enters the ready queue</a:t>
            </a:r>
            <a:endParaRPr lang="en-US" sz="813" dirty="0"/>
          </a:p>
        </p:txBody>
      </p:sp>
      <p:sp>
        <p:nvSpPr>
          <p:cNvPr id="13" name="Shape 10"/>
          <p:cNvSpPr/>
          <p:nvPr/>
        </p:nvSpPr>
        <p:spPr>
          <a:xfrm>
            <a:off x="4610175" y="3153817"/>
            <a:ext cx="1738536" cy="878607"/>
          </a:xfrm>
          <a:prstGeom prst="roundRect">
            <a:avLst>
              <a:gd name="adj" fmla="val 7806"/>
            </a:avLst>
          </a:prstGeom>
          <a:solidFill>
            <a:srgbClr val="FFFAF6"/>
          </a:solidFill>
          <a:ln w="22860">
            <a:solidFill>
              <a:srgbClr val="B4DAE4"/>
            </a:solidFill>
            <a:prstDash val="solid"/>
          </a:ln>
          <a:effectLst>
            <a:outerShdw dist="21590" dir="2700000" algn="bl" rotWithShape="0">
              <a:srgbClr val="B4DAE4">
                <a:alpha val="10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95887" y="3153817"/>
            <a:ext cx="57150" cy="878607"/>
          </a:xfrm>
          <a:prstGeom prst="roundRect">
            <a:avLst>
              <a:gd name="adj" fmla="val 76512"/>
            </a:avLst>
          </a:prstGeom>
          <a:solidFill>
            <a:srgbClr val="B4DAE4"/>
          </a:solidFill>
          <a:ln/>
        </p:spPr>
      </p:sp>
      <p:sp>
        <p:nvSpPr>
          <p:cNvPr id="15" name="Text 12"/>
          <p:cNvSpPr/>
          <p:nvPr/>
        </p:nvSpPr>
        <p:spPr>
          <a:xfrm>
            <a:off x="4771430" y="3272210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50"/>
              </a:lnSpc>
            </a:pPr>
            <a:r>
              <a:rPr lang="en-US" sz="10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Burst Time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771430" y="3480718"/>
            <a:ext cx="1458888" cy="288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5"/>
              </a:lnSpc>
            </a:pPr>
            <a:r>
              <a:rPr lang="en-US" sz="813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Total CPU time required for process execution</a:t>
            </a:r>
            <a:endParaRPr lang="en-US" sz="813" dirty="0"/>
          </a:p>
        </p:txBody>
      </p:sp>
      <p:sp>
        <p:nvSpPr>
          <p:cNvPr id="17" name="Shape 14"/>
          <p:cNvSpPr/>
          <p:nvPr/>
        </p:nvSpPr>
        <p:spPr>
          <a:xfrm>
            <a:off x="6425133" y="3153817"/>
            <a:ext cx="1738610" cy="878607"/>
          </a:xfrm>
          <a:prstGeom prst="roundRect">
            <a:avLst>
              <a:gd name="adj" fmla="val 7806"/>
            </a:avLst>
          </a:prstGeom>
          <a:solidFill>
            <a:srgbClr val="FFFAF6"/>
          </a:solidFill>
          <a:ln w="22860">
            <a:solidFill>
              <a:srgbClr val="E1C2C2"/>
            </a:solidFill>
            <a:prstDash val="solid"/>
          </a:ln>
          <a:effectLst>
            <a:outerShdw dist="21590" dir="2700000" algn="bl" rotWithShape="0">
              <a:srgbClr val="E1C2C2">
                <a:alpha val="10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10846" y="3153817"/>
            <a:ext cx="57150" cy="878607"/>
          </a:xfrm>
          <a:prstGeom prst="roundRect">
            <a:avLst>
              <a:gd name="adj" fmla="val 76512"/>
            </a:avLst>
          </a:prstGeom>
          <a:solidFill>
            <a:srgbClr val="E1C2C2"/>
          </a:solidFill>
          <a:ln/>
        </p:spPr>
      </p:sp>
      <p:sp>
        <p:nvSpPr>
          <p:cNvPr id="19" name="Text 16"/>
          <p:cNvSpPr/>
          <p:nvPr/>
        </p:nvSpPr>
        <p:spPr>
          <a:xfrm>
            <a:off x="6586389" y="3272210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50"/>
              </a:lnSpc>
            </a:pPr>
            <a:r>
              <a:rPr lang="en-US" sz="10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Priority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586389" y="3480718"/>
            <a:ext cx="1458962" cy="433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5"/>
              </a:lnSpc>
            </a:pPr>
            <a:r>
              <a:rPr lang="en-US" sz="813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Integer value used by Priority Scheduling (lower = higher priority)</a:t>
            </a:r>
            <a:endParaRPr lang="en-US" sz="813" dirty="0"/>
          </a:p>
        </p:txBody>
      </p:sp>
      <p:sp>
        <p:nvSpPr>
          <p:cNvPr id="21" name="Shape 18"/>
          <p:cNvSpPr/>
          <p:nvPr/>
        </p:nvSpPr>
        <p:spPr>
          <a:xfrm>
            <a:off x="980182" y="4108847"/>
            <a:ext cx="1738536" cy="734169"/>
          </a:xfrm>
          <a:prstGeom prst="roundRect">
            <a:avLst>
              <a:gd name="adj" fmla="val 9341"/>
            </a:avLst>
          </a:prstGeom>
          <a:solidFill>
            <a:srgbClr val="FFFAF6"/>
          </a:solidFill>
          <a:ln w="22860">
            <a:solidFill>
              <a:srgbClr val="CCC4EC"/>
            </a:solidFill>
            <a:prstDash val="solid"/>
          </a:ln>
          <a:effectLst>
            <a:outerShdw dist="21590" dir="2700000" algn="bl" rotWithShape="0">
              <a:srgbClr val="CCC4EC">
                <a:alpha val="10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65894" y="4108847"/>
            <a:ext cx="57150" cy="734169"/>
          </a:xfrm>
          <a:prstGeom prst="roundRect">
            <a:avLst>
              <a:gd name="adj" fmla="val 76512"/>
            </a:avLst>
          </a:prstGeom>
          <a:solidFill>
            <a:srgbClr val="CCC4EC"/>
          </a:solidFill>
          <a:ln/>
        </p:spPr>
      </p:sp>
      <p:sp>
        <p:nvSpPr>
          <p:cNvPr id="23" name="Text 20"/>
          <p:cNvSpPr/>
          <p:nvPr/>
        </p:nvSpPr>
        <p:spPr>
          <a:xfrm>
            <a:off x="1141438" y="4227240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50"/>
              </a:lnSpc>
            </a:pPr>
            <a:r>
              <a:rPr lang="en-US" sz="10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Time Quantum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41437" y="4435748"/>
            <a:ext cx="1458888" cy="288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5"/>
              </a:lnSpc>
            </a:pPr>
            <a:r>
              <a:rPr lang="en-US" sz="813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Fixed time slice per process in Round Robin scheduling</a:t>
            </a:r>
            <a:endParaRPr lang="en-US" sz="81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479610" y="69910"/>
            <a:ext cx="7315200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406"/>
              </a:lnSpc>
            </a:pPr>
            <a:r>
              <a:rPr lang="en-US" sz="2719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Advantages &amp; Real-World Applications</a:t>
            </a:r>
            <a:endParaRPr lang="en-US" sz="2719" dirty="0"/>
          </a:p>
        </p:txBody>
      </p:sp>
      <p:sp>
        <p:nvSpPr>
          <p:cNvPr id="4" name="Shape 1"/>
          <p:cNvSpPr/>
          <p:nvPr/>
        </p:nvSpPr>
        <p:spPr>
          <a:xfrm>
            <a:off x="1479758" y="684820"/>
            <a:ext cx="6184632" cy="4079554"/>
          </a:xfrm>
          <a:prstGeom prst="roundRect">
            <a:avLst>
              <a:gd name="adj" fmla="val 1800"/>
            </a:avLst>
          </a:prstGeom>
          <a:solidFill>
            <a:srgbClr val="F0DEDC"/>
          </a:solidFill>
          <a:ln w="7620">
            <a:solidFill>
              <a:srgbClr val="C7A8A8"/>
            </a:solidFill>
            <a:prstDash val="solid"/>
          </a:ln>
          <a:effectLst>
            <a:outerShdw dist="29210" dir="2700000" algn="bl" rotWithShape="0">
              <a:srgbClr val="C7A8A8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485900" y="819150"/>
            <a:ext cx="6172200" cy="2033811"/>
          </a:xfrm>
          <a:prstGeom prst="roundRect">
            <a:avLst>
              <a:gd name="adj" fmla="val 3610"/>
            </a:avLst>
          </a:prstGeom>
          <a:solidFill>
            <a:srgbClr val="F0DED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058246" y="1069059"/>
            <a:ext cx="2276816" cy="29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344" dirty="0"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✅ Advantages</a:t>
            </a:r>
            <a:endParaRPr lang="en-US" sz="1344" dirty="0"/>
          </a:p>
        </p:txBody>
      </p:sp>
      <p:sp>
        <p:nvSpPr>
          <p:cNvPr id="7" name="Text 4"/>
          <p:cNvSpPr/>
          <p:nvPr/>
        </p:nvSpPr>
        <p:spPr>
          <a:xfrm>
            <a:off x="1665898" y="1320474"/>
            <a:ext cx="5807963" cy="129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14313" indent="-214313">
              <a:lnSpc>
                <a:spcPts val="1719"/>
              </a:lnSpc>
              <a:buSzPct val="100000"/>
              <a:buChar char="•"/>
            </a:pPr>
            <a:r>
              <a:rPr lang="en-US" sz="1094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Clear visual representation of abstract scheduling concepts</a:t>
            </a:r>
            <a:endParaRPr lang="en-US" sz="1094" dirty="0"/>
          </a:p>
          <a:p>
            <a:pPr marL="214313" indent="-214313">
              <a:lnSpc>
                <a:spcPts val="1719"/>
              </a:lnSpc>
              <a:buSzPct val="100000"/>
              <a:buChar char="•"/>
            </a:pPr>
            <a:r>
              <a:rPr lang="en-US" sz="1094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Builds strong conceptual clarity for OS theory</a:t>
            </a:r>
            <a:endParaRPr lang="en-US" sz="1094" dirty="0"/>
          </a:p>
          <a:p>
            <a:pPr marL="214313" indent="-214313">
              <a:lnSpc>
                <a:spcPts val="1719"/>
              </a:lnSpc>
              <a:buSzPct val="100000"/>
              <a:buChar char="•"/>
            </a:pPr>
            <a:r>
              <a:rPr lang="en-US" sz="1094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Enables side-by-side algorithm comparison</a:t>
            </a:r>
            <a:endParaRPr lang="en-US" sz="1094" dirty="0"/>
          </a:p>
          <a:p>
            <a:pPr marL="214313" indent="-214313">
              <a:lnSpc>
                <a:spcPts val="1719"/>
              </a:lnSpc>
              <a:buSzPct val="100000"/>
              <a:buChar char="•"/>
            </a:pPr>
            <a:r>
              <a:rPr lang="en-US" sz="1094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Hands-on learning without hardware requirements</a:t>
            </a:r>
            <a:endParaRPr lang="en-US" sz="1094" dirty="0"/>
          </a:p>
        </p:txBody>
      </p:sp>
      <p:sp>
        <p:nvSpPr>
          <p:cNvPr id="8" name="Shape 5"/>
          <p:cNvSpPr/>
          <p:nvPr/>
        </p:nvSpPr>
        <p:spPr>
          <a:xfrm>
            <a:off x="1485900" y="2442939"/>
            <a:ext cx="6172200" cy="2033811"/>
          </a:xfrm>
          <a:prstGeom prst="rect">
            <a:avLst/>
          </a:prstGeom>
          <a:solidFill>
            <a:srgbClr val="F0DEDC"/>
          </a:solidFill>
          <a:ln/>
        </p:spPr>
      </p:sp>
      <p:sp>
        <p:nvSpPr>
          <p:cNvPr id="9" name="Shape 6"/>
          <p:cNvSpPr/>
          <p:nvPr/>
        </p:nvSpPr>
        <p:spPr>
          <a:xfrm>
            <a:off x="1485900" y="2568659"/>
            <a:ext cx="6172200" cy="48810"/>
          </a:xfrm>
          <a:prstGeom prst="roundRect">
            <a:avLst>
              <a:gd name="adj" fmla="val 307674"/>
            </a:avLst>
          </a:prstGeom>
          <a:solidFill>
            <a:srgbClr val="B2AAD2"/>
          </a:solidFill>
          <a:ln/>
        </p:spPr>
      </p:sp>
      <p:sp>
        <p:nvSpPr>
          <p:cNvPr id="10" name="Text 7"/>
          <p:cNvSpPr/>
          <p:nvPr/>
        </p:nvSpPr>
        <p:spPr>
          <a:xfrm>
            <a:off x="2058246" y="2692848"/>
            <a:ext cx="2276816" cy="29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344" dirty="0"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🎯 Applications</a:t>
            </a:r>
            <a:endParaRPr lang="en-US" sz="1344" dirty="0"/>
          </a:p>
        </p:txBody>
      </p:sp>
      <p:sp>
        <p:nvSpPr>
          <p:cNvPr id="11" name="Text 8"/>
          <p:cNvSpPr/>
          <p:nvPr/>
        </p:nvSpPr>
        <p:spPr>
          <a:xfrm>
            <a:off x="1665898" y="2944263"/>
            <a:ext cx="5807963" cy="129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14313" indent="-214313">
              <a:lnSpc>
                <a:spcPts val="1719"/>
              </a:lnSpc>
              <a:buSzPct val="100000"/>
              <a:buChar char="•"/>
            </a:pPr>
            <a:r>
              <a:rPr lang="en-US" sz="1094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Operating Systems coursework and lab exercises</a:t>
            </a:r>
            <a:endParaRPr lang="en-US" sz="1094" dirty="0"/>
          </a:p>
          <a:p>
            <a:pPr marL="214313" indent="-214313">
              <a:lnSpc>
                <a:spcPts val="1719"/>
              </a:lnSpc>
              <a:buSzPct val="100000"/>
              <a:buChar char="•"/>
            </a:pPr>
            <a:r>
              <a:rPr lang="en-US" sz="1094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Performance benchmarking of scheduling strategies</a:t>
            </a:r>
            <a:endParaRPr lang="en-US" sz="1094" dirty="0"/>
          </a:p>
          <a:p>
            <a:pPr marL="214313" indent="-214313">
              <a:lnSpc>
                <a:spcPts val="1719"/>
              </a:lnSpc>
              <a:buSzPct val="100000"/>
              <a:buChar char="•"/>
            </a:pPr>
            <a:r>
              <a:rPr lang="en-US" sz="1094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Algorithm comparison for academic research</a:t>
            </a:r>
            <a:endParaRPr lang="en-US" sz="1094" dirty="0"/>
          </a:p>
          <a:p>
            <a:pPr marL="214313" indent="-214313">
              <a:lnSpc>
                <a:spcPts val="1719"/>
              </a:lnSpc>
              <a:buSzPct val="100000"/>
              <a:buChar char="•"/>
            </a:pPr>
            <a:r>
              <a:rPr lang="en-US" sz="1094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Foundation for understanding real OS kernels</a:t>
            </a:r>
            <a:endParaRPr lang="en-US" sz="109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519136" y="370975"/>
            <a:ext cx="3267224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88"/>
              </a:lnSpc>
            </a:pPr>
            <a:r>
              <a:rPr lang="en-US" sz="2563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Conclusion</a:t>
            </a:r>
            <a:endParaRPr lang="en-US" sz="2563" dirty="0"/>
          </a:p>
        </p:txBody>
      </p:sp>
      <p:sp>
        <p:nvSpPr>
          <p:cNvPr id="4" name="Text 1"/>
          <p:cNvSpPr/>
          <p:nvPr/>
        </p:nvSpPr>
        <p:spPr>
          <a:xfrm>
            <a:off x="1524000" y="1005747"/>
            <a:ext cx="4800303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63"/>
              </a:lnSpc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CPU scheduling is a cornerstone of operating system performance. This simulator demonstrates that no single algorithm is universally optimal — each has trade-offs in fairness, throughput, and responsiveness.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1524000" y="1939792"/>
            <a:ext cx="2339876" cy="1350541"/>
          </a:xfrm>
          <a:prstGeom prst="roundRect">
            <a:avLst>
              <a:gd name="adj" fmla="val 5078"/>
            </a:avLst>
          </a:prstGeom>
          <a:solidFill>
            <a:srgbClr val="FFFAF6"/>
          </a:solidFill>
          <a:ln/>
          <a:effectLst>
            <a:outerShdw dist="26670" dir="2700000" algn="bl" rotWithShape="0">
              <a:srgbClr val="E1C2C2">
                <a:alpha val="1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524000" y="1925505"/>
            <a:ext cx="2339876" cy="57150"/>
          </a:xfrm>
          <a:prstGeom prst="roundRect">
            <a:avLst>
              <a:gd name="adj" fmla="val 96046"/>
            </a:avLst>
          </a:prstGeom>
          <a:solidFill>
            <a:srgbClr val="E1C2C2"/>
          </a:solidFill>
          <a:ln/>
        </p:spPr>
      </p:sp>
      <p:sp>
        <p:nvSpPr>
          <p:cNvPr id="7" name="Shape 4"/>
          <p:cNvSpPr/>
          <p:nvPr/>
        </p:nvSpPr>
        <p:spPr>
          <a:xfrm>
            <a:off x="2497931" y="1743786"/>
            <a:ext cx="392013" cy="392013"/>
          </a:xfrm>
          <a:prstGeom prst="roundRect">
            <a:avLst>
              <a:gd name="adj" fmla="val 145786"/>
            </a:avLst>
          </a:prstGeom>
          <a:solidFill>
            <a:srgbClr val="E1C2C2">
              <a:alpha val="50000"/>
            </a:srgbClr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5506" y="1861360"/>
            <a:ext cx="156791" cy="1567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68959" y="2266469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94"/>
              </a:lnSpc>
            </a:pPr>
            <a:r>
              <a:rPr lang="en-US" sz="1281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Key Insight</a:t>
            </a:r>
            <a:endParaRPr lang="en-US" sz="1281" dirty="0"/>
          </a:p>
        </p:txBody>
      </p:sp>
      <p:sp>
        <p:nvSpPr>
          <p:cNvPr id="10" name="Text 6"/>
          <p:cNvSpPr/>
          <p:nvPr/>
        </p:nvSpPr>
        <p:spPr>
          <a:xfrm>
            <a:off x="1668958" y="2542844"/>
            <a:ext cx="2049959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63"/>
              </a:lnSpc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Algorithm choice directly impacts system efficiency and user experience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984352" y="1939792"/>
            <a:ext cx="2339950" cy="1350541"/>
          </a:xfrm>
          <a:prstGeom prst="roundRect">
            <a:avLst>
              <a:gd name="adj" fmla="val 5078"/>
            </a:avLst>
          </a:prstGeom>
          <a:solidFill>
            <a:srgbClr val="FFFAF6"/>
          </a:solidFill>
          <a:ln/>
          <a:effectLst>
            <a:outerShdw dist="26670" dir="2700000" algn="bl" rotWithShape="0">
              <a:srgbClr val="CCC4EC">
                <a:alpha val="10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984352" y="1925505"/>
            <a:ext cx="2339950" cy="57150"/>
          </a:xfrm>
          <a:prstGeom prst="roundRect">
            <a:avLst>
              <a:gd name="adj" fmla="val 96046"/>
            </a:avLst>
          </a:prstGeom>
          <a:solidFill>
            <a:srgbClr val="CCC4EC"/>
          </a:solidFill>
          <a:ln/>
        </p:spPr>
      </p:sp>
      <p:sp>
        <p:nvSpPr>
          <p:cNvPr id="13" name="Shape 9"/>
          <p:cNvSpPr/>
          <p:nvPr/>
        </p:nvSpPr>
        <p:spPr>
          <a:xfrm>
            <a:off x="4958284" y="1743786"/>
            <a:ext cx="392013" cy="392013"/>
          </a:xfrm>
          <a:prstGeom prst="roundRect">
            <a:avLst>
              <a:gd name="adj" fmla="val 145786"/>
            </a:avLst>
          </a:prstGeom>
          <a:solidFill>
            <a:srgbClr val="CCC4EC">
              <a:alpha val="50000"/>
            </a:srgbClr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75857" y="1861360"/>
            <a:ext cx="156791" cy="15679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29311" y="2266469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94"/>
              </a:lnSpc>
            </a:pPr>
            <a:r>
              <a:rPr lang="en-US" sz="1281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Comparative Value</a:t>
            </a:r>
            <a:endParaRPr lang="en-US" sz="1281" dirty="0"/>
          </a:p>
        </p:txBody>
      </p:sp>
      <p:sp>
        <p:nvSpPr>
          <p:cNvPr id="16" name="Text 11"/>
          <p:cNvSpPr/>
          <p:nvPr/>
        </p:nvSpPr>
        <p:spPr>
          <a:xfrm>
            <a:off x="4129311" y="2542844"/>
            <a:ext cx="2050033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63"/>
              </a:lnSpc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Side-by-side metrics reveal each algorithm's strengths and weaknesses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1524000" y="3606816"/>
            <a:ext cx="4800303" cy="1149698"/>
          </a:xfrm>
          <a:prstGeom prst="roundRect">
            <a:avLst>
              <a:gd name="adj" fmla="val 5965"/>
            </a:avLst>
          </a:prstGeom>
          <a:solidFill>
            <a:srgbClr val="FFFAF6"/>
          </a:solidFill>
          <a:ln/>
          <a:effectLst>
            <a:outerShdw dist="26670" dir="2700000" algn="bl" rotWithShape="0">
              <a:srgbClr val="B4DAE4">
                <a:alpha val="10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1524000" y="3592528"/>
            <a:ext cx="4800303" cy="57150"/>
          </a:xfrm>
          <a:prstGeom prst="roundRect">
            <a:avLst>
              <a:gd name="adj" fmla="val 96046"/>
            </a:avLst>
          </a:prstGeom>
          <a:solidFill>
            <a:srgbClr val="B4DAE4"/>
          </a:solidFill>
          <a:ln/>
        </p:spPr>
      </p:sp>
      <p:sp>
        <p:nvSpPr>
          <p:cNvPr id="19" name="Shape 14"/>
          <p:cNvSpPr/>
          <p:nvPr/>
        </p:nvSpPr>
        <p:spPr>
          <a:xfrm>
            <a:off x="3728145" y="3410809"/>
            <a:ext cx="392013" cy="392013"/>
          </a:xfrm>
          <a:prstGeom prst="roundRect">
            <a:avLst>
              <a:gd name="adj" fmla="val 145786"/>
            </a:avLst>
          </a:prstGeom>
          <a:solidFill>
            <a:srgbClr val="B4DAE4">
              <a:alpha val="50000"/>
            </a:srgbClr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5719" y="3528384"/>
            <a:ext cx="156791" cy="1567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68959" y="3933493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94"/>
              </a:lnSpc>
            </a:pPr>
            <a:r>
              <a:rPr lang="en-US" sz="1281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Educational Impact</a:t>
            </a:r>
            <a:endParaRPr lang="en-US" sz="1281" dirty="0"/>
          </a:p>
        </p:txBody>
      </p:sp>
      <p:sp>
        <p:nvSpPr>
          <p:cNvPr id="22" name="Text 16"/>
          <p:cNvSpPr/>
          <p:nvPr/>
        </p:nvSpPr>
        <p:spPr>
          <a:xfrm>
            <a:off x="1668959" y="4209867"/>
            <a:ext cx="4510385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63"/>
              </a:lnSpc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simulator transforms abstract OS theory into tangible, visual understanding</a:t>
            </a:r>
            <a:endParaRPr lang="en-US" sz="1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CBE64E1-F139-B5F6-8854-EA2659E4DE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6" y="5338"/>
            <a:ext cx="2024834" cy="10092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97575-CC81-AD33-960D-CEBB5EA1A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Acknowledgement &amp; Thanks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144325-A5BD-2623-584E-948CAA41EA29}"/>
              </a:ext>
            </a:extLst>
          </p:cNvPr>
          <p:cNvSpPr txBox="1"/>
          <p:nvPr/>
        </p:nvSpPr>
        <p:spPr>
          <a:xfrm>
            <a:off x="342900" y="1200150"/>
            <a:ext cx="8458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We sincerely thank </a:t>
            </a:r>
            <a:r>
              <a:rPr lang="en-US" sz="2000" b="1" dirty="0">
                <a:solidFill>
                  <a:schemeClr val="tx1"/>
                </a:solidFill>
              </a:rPr>
              <a:t>Mrs. Ruchi</a:t>
            </a:r>
            <a:r>
              <a:rPr lang="en-US" sz="2000" dirty="0">
                <a:solidFill>
                  <a:schemeClr val="tx1"/>
                </a:solidFill>
              </a:rPr>
              <a:t>(Assistant Professor)</a:t>
            </a:r>
            <a:r>
              <a:rPr lang="en-US" sz="2000" dirty="0"/>
              <a:t>for his continuous guidance.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Special thanks to our faculty members and technical mentors for their constant support and valuable feedback.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   Gratitude to our peers, professors, and institutions for academic &amp;</a:t>
            </a:r>
          </a:p>
          <a:p>
            <a:pPr lvl="1"/>
            <a:r>
              <a:rPr lang="en-US" sz="2000" dirty="0"/>
              <a:t>     moral support.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62F743-95D4-A3DD-B7C0-68602B8F0256}"/>
              </a:ext>
            </a:extLst>
          </p:cNvPr>
          <p:cNvSpPr/>
          <p:nvPr/>
        </p:nvSpPr>
        <p:spPr>
          <a:xfrm>
            <a:off x="2362200" y="3481685"/>
            <a:ext cx="33009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i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4094620441"/>
      </p:ext>
    </p:extLst>
  </p:cSld>
  <p:clrMapOvr>
    <a:masterClrMapping/>
  </p:clrMapOvr>
</p:sld>
</file>

<file path=ppt/theme/theme1.xml><?xml version="1.0" encoding="utf-8"?>
<a:theme xmlns:a="http://schemas.openxmlformats.org/drawingml/2006/main" name="Dauphin template">
  <a:themeElements>
    <a:clrScheme name="VGU">
      <a:dk1>
        <a:sysClr val="windowText" lastClr="000000"/>
      </a:dk1>
      <a:lt1>
        <a:sysClr val="window" lastClr="FFFFFF"/>
      </a:lt1>
      <a:dk2>
        <a:srgbClr val="666666"/>
      </a:dk2>
      <a:lt2>
        <a:srgbClr val="812211"/>
      </a:lt2>
      <a:accent1>
        <a:srgbClr val="811811"/>
      </a:accent1>
      <a:accent2>
        <a:srgbClr val="E40059"/>
      </a:accent2>
      <a:accent3>
        <a:srgbClr val="7030A0"/>
      </a:accent3>
      <a:accent4>
        <a:srgbClr val="B8CFFF"/>
      </a:accent4>
      <a:accent5>
        <a:srgbClr val="72A0FF"/>
      </a:accent5>
      <a:accent6>
        <a:srgbClr val="00349E"/>
      </a:accent6>
      <a:hlink>
        <a:srgbClr val="17BBFD"/>
      </a:hlink>
      <a:folHlink>
        <a:srgbClr val="FF79C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12796</TotalTime>
  <Words>464</Words>
  <Application>Microsoft Office PowerPoint</Application>
  <PresentationFormat>On-screen Show (16:9)</PresentationFormat>
  <Paragraphs>82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Catamaran</vt:lpstr>
      <vt:lpstr>Public Sans</vt:lpstr>
      <vt:lpstr>Arial</vt:lpstr>
      <vt:lpstr>Playfair Display Semi Bold</vt:lpstr>
      <vt:lpstr>Catamaran Thin</vt:lpstr>
      <vt:lpstr>Albertus Extra Bold</vt:lpstr>
      <vt:lpstr>Calibri</vt:lpstr>
      <vt:lpstr>Dauphin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Acknowledgement &amp; 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ADMIN</dc:creator>
  <cp:lastModifiedBy>mansing sisodiya</cp:lastModifiedBy>
  <cp:revision>794</cp:revision>
  <dcterms:modified xsi:type="dcterms:W3CDTF">2026-04-30T06:00:14Z</dcterms:modified>
</cp:coreProperties>
</file>