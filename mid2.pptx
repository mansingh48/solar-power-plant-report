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471" r:id="rId2"/>
    <p:sldId id="479" r:id="rId3"/>
    <p:sldId id="480" r:id="rId4"/>
    <p:sldId id="473" r:id="rId5"/>
    <p:sldId id="474" r:id="rId6"/>
    <p:sldId id="476" r:id="rId7"/>
    <p:sldId id="477" r:id="rId8"/>
    <p:sldId id="481" r:id="rId9"/>
    <p:sldId id="482" r:id="rId10"/>
  </p:sldIdLst>
  <p:sldSz cx="9144000" cy="5143500" type="screen16x9"/>
  <p:notesSz cx="6858000" cy="9144000"/>
  <p:embeddedFontLst>
    <p:embeddedFont>
      <p:font typeface="Albertus Extra Bold" panose="020B0604020202020204"/>
      <p:regular r:id="rId12"/>
    </p:embeddedFont>
    <p:embeddedFont>
      <p:font typeface="Catamaran" panose="020B0604020202020204" charset="0"/>
      <p:regular r:id="rId13"/>
      <p:bold r:id="rId14"/>
    </p:embeddedFont>
    <p:embeddedFont>
      <p:font typeface="Catamaran Thin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813"/>
    <a:srgbClr val="FBD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41" autoAdjust="0"/>
  </p:normalViewPr>
  <p:slideViewPr>
    <p:cSldViewPr>
      <p:cViewPr varScale="1">
        <p:scale>
          <a:sx n="107" d="100"/>
          <a:sy n="107" d="100"/>
        </p:scale>
        <p:origin x="878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ng sisodiya" userId="6c09d1f32f7f3ed8" providerId="LiveId" clId="{1BC5DC83-56E5-4E7D-BD0B-CC08ECFB378C}"/>
    <pc:docChg chg="modSld sldOrd">
      <pc:chgData name="mansing sisodiya" userId="6c09d1f32f7f3ed8" providerId="LiveId" clId="{1BC5DC83-56E5-4E7D-BD0B-CC08ECFB378C}" dt="2026-04-18T06:46:50.592" v="6" actId="14100"/>
      <pc:docMkLst>
        <pc:docMk/>
      </pc:docMkLst>
      <pc:sldChg chg="modSp mod">
        <pc:chgData name="mansing sisodiya" userId="6c09d1f32f7f3ed8" providerId="LiveId" clId="{1BC5DC83-56E5-4E7D-BD0B-CC08ECFB378C}" dt="2026-04-18T06:46:50.592" v="6" actId="14100"/>
        <pc:sldMkLst>
          <pc:docMk/>
          <pc:sldMk cId="0" sldId="471"/>
        </pc:sldMkLst>
        <pc:spChg chg="mod">
          <ac:chgData name="mansing sisodiya" userId="6c09d1f32f7f3ed8" providerId="LiveId" clId="{1BC5DC83-56E5-4E7D-BD0B-CC08ECFB378C}" dt="2026-04-18T06:46:50.592" v="6" actId="14100"/>
          <ac:spMkLst>
            <pc:docMk/>
            <pc:sldMk cId="0" sldId="471"/>
            <ac:spMk id="23" creationId="{00000000-0000-0000-0000-000000000000}"/>
          </ac:spMkLst>
        </pc:spChg>
      </pc:sldChg>
      <pc:sldChg chg="ord">
        <pc:chgData name="mansing sisodiya" userId="6c09d1f32f7f3ed8" providerId="LiveId" clId="{1BC5DC83-56E5-4E7D-BD0B-CC08ECFB378C}" dt="2026-04-18T05:53:32.359" v="1"/>
        <pc:sldMkLst>
          <pc:docMk/>
          <pc:sldMk cId="645685866" sldId="4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40605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30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6"/>
          <p:cNvSpPr/>
          <p:nvPr userDrawn="1"/>
        </p:nvSpPr>
        <p:spPr>
          <a:xfrm>
            <a:off x="-45517" y="57150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3" name="Google Shape;209;p13"/>
          <p:cNvGrpSpPr/>
          <p:nvPr userDrawn="1"/>
        </p:nvGrpSpPr>
        <p:grpSpPr>
          <a:xfrm>
            <a:off x="132749" y="290263"/>
            <a:ext cx="269364" cy="224087"/>
            <a:chOff x="1926350" y="995225"/>
            <a:chExt cx="428650" cy="356600"/>
          </a:xfrm>
        </p:grpSpPr>
        <p:sp>
          <p:nvSpPr>
            <p:cNvPr id="4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133350"/>
            <a:ext cx="6010500" cy="54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>
                <a:solidFill>
                  <a:srgbClr val="8118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1">
                <a:solidFill>
                  <a:srgbClr val="811813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346650"/>
            <a:ext cx="7069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0477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grpSp>
        <p:nvGrpSpPr>
          <p:cNvPr id="28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29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0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48" name="Picture 47" descr="VGU_Logo_P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0130" y="0"/>
            <a:ext cx="1243870" cy="11239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80000"/>
              </a:schemeClr>
            </a:outerShdw>
          </a:effectLst>
        </p:spPr>
      </p:pic>
      <p:sp>
        <p:nvSpPr>
          <p:cNvPr id="50" name="Google Shape;173;p11"/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b="1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/</a:t>
            </a:r>
            <a:fld id="{00000000-1234-1234-1234-123412341234}" type="slidenum">
              <a:rPr lang="en" smtClean="0">
                <a:solidFill>
                  <a:srgbClr val="811813"/>
                </a:solidFill>
              </a:rPr>
              <a:pPr/>
              <a:t>‹#›</a:t>
            </a:fld>
            <a:endParaRPr lang="en" dirty="0">
              <a:solidFill>
                <a:srgbClr val="81181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8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-381000" y="0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Catamaran" charset="0"/>
              <a:cs typeface="Catamaran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892965"/>
            <a:ext cx="9144000" cy="269585"/>
          </a:xfrm>
          <a:prstGeom prst="rect">
            <a:avLst/>
          </a:prstGeom>
          <a:solidFill>
            <a:srgbClr val="3C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84444" y="324986"/>
            <a:ext cx="3063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214" y="1046946"/>
            <a:ext cx="678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AI-Driven Digital Twin Architectures for Solar Power Plant Performance Monitoring</a:t>
            </a:r>
            <a:endParaRPr lang="en-US" sz="2400" b="1" dirty="0">
              <a:solidFill>
                <a:schemeClr val="bg1"/>
              </a:solidFill>
              <a:latin typeface="Catamaran" charset="0"/>
              <a:cs typeface="Catamaran" charset="0"/>
            </a:endParaRPr>
          </a:p>
        </p:txBody>
      </p:sp>
      <p:pic>
        <p:nvPicPr>
          <p:cNvPr id="1027" name="Picture 3" descr="C:\Users\Shekhaw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8585"/>
            <a:ext cx="9122228" cy="12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97629" y="2082932"/>
            <a:ext cx="2908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2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Presenter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4672" y="2472276"/>
            <a:ext cx="2639825" cy="1282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35" marR="4445" algn="ctr">
              <a:spcBef>
                <a:spcPts val="805"/>
              </a:spcBef>
            </a:pPr>
            <a:r>
              <a:rPr lang="en-US" sz="1600" dirty="0">
                <a:solidFill>
                  <a:srgbClr val="FFFF00"/>
                </a:solidFill>
              </a:rPr>
              <a:t>SHIVAM KUMAR : 30898</a:t>
            </a:r>
          </a:p>
          <a:p>
            <a:pPr marL="635" marR="4445" algn="ctr">
              <a:spcBef>
                <a:spcPts val="805"/>
              </a:spcBef>
            </a:pPr>
            <a:r>
              <a:rPr lang="en-US" sz="1600" dirty="0">
                <a:solidFill>
                  <a:srgbClr val="FFFF00"/>
                </a:solidFill>
              </a:rPr>
              <a:t>MANSINGH: 32285</a:t>
            </a:r>
            <a:endParaRPr lang="en-IN" sz="1600" dirty="0">
              <a:solidFill>
                <a:srgbClr val="FFFF00"/>
              </a:solidFill>
            </a:endParaRPr>
          </a:p>
          <a:p>
            <a:pPr marL="635" marR="4445" algn="ctr">
              <a:spcBef>
                <a:spcPts val="805"/>
              </a:spcBef>
            </a:pPr>
            <a:r>
              <a:rPr lang="en-US" sz="1600" dirty="0">
                <a:solidFill>
                  <a:srgbClr val="FFFF00"/>
                </a:solidFill>
              </a:rPr>
              <a:t>KRITI PATHAK: 30131</a:t>
            </a:r>
            <a:endParaRPr lang="en-IN" sz="1600" dirty="0">
              <a:solidFill>
                <a:srgbClr val="FFFF00"/>
              </a:solidFill>
            </a:endParaRPr>
          </a:p>
          <a:p>
            <a:endParaRPr lang="en-US" sz="1600" b="1" dirty="0">
              <a:solidFill>
                <a:srgbClr val="FFC000"/>
              </a:solidFill>
              <a:latin typeface="Catamaran" charset="0"/>
              <a:cs typeface="Catamaran" charset="0"/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-413550" y="1703982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V="1">
            <a:off x="1447800" y="1964548"/>
            <a:ext cx="6275614" cy="45719"/>
          </a:xfrm>
          <a:prstGeom prst="rect">
            <a:avLst/>
          </a:prstGeom>
          <a:solidFill>
            <a:srgbClr val="FFBF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>
            <a:off x="8727967" y="1840848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/>
          <p:cNvSpPr/>
          <p:nvPr/>
        </p:nvSpPr>
        <p:spPr>
          <a:xfrm>
            <a:off x="7509191" y="2644715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7754122" y="1519127"/>
            <a:ext cx="1104473" cy="952132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4122" y="4781550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www.vgu.ac.in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" y="4778573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Date</a:t>
            </a:r>
            <a:r>
              <a:rPr lang="en-IN" b="1">
                <a:solidFill>
                  <a:schemeClr val="bg1"/>
                </a:solidFill>
                <a:latin typeface="Catamaran" charset="0"/>
                <a:cs typeface="Catamaran" charset="0"/>
              </a:rPr>
              <a:t>:- 18/04/2026</a:t>
            </a:r>
            <a:endParaRPr lang="en-US" b="1" dirty="0">
              <a:solidFill>
                <a:schemeClr val="bg1"/>
              </a:solidFill>
              <a:latin typeface="Catamaran" charset="0"/>
              <a:cs typeface="Catamaran" charset="0"/>
            </a:endParaRPr>
          </a:p>
        </p:txBody>
      </p:sp>
      <p:sp>
        <p:nvSpPr>
          <p:cNvPr id="27" name="Google Shape;189;p11"/>
          <p:cNvSpPr/>
          <p:nvPr/>
        </p:nvSpPr>
        <p:spPr>
          <a:xfrm>
            <a:off x="1658929" y="-53042"/>
            <a:ext cx="1371581" cy="151405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2">
              <a:lumMod val="75000"/>
              <a:alpha val="14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1" name="Picture 30" descr="5dd2728da0d97e2f240c63c54cf09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581150"/>
            <a:ext cx="425450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48600" y="1864608"/>
            <a:ext cx="918841" cy="594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PRAYAS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2025</a:t>
            </a:r>
            <a:endParaRPr lang="en-US" dirty="0">
              <a:solidFill>
                <a:schemeClr val="bg1"/>
              </a:solidFill>
              <a:latin typeface="Albertus Extra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19381" y="3943349"/>
            <a:ext cx="3810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Catamaran" charset="0"/>
                <a:cs typeface="Catamaran" charset="0"/>
              </a:rPr>
              <a:t>Submitted to:- R</a:t>
            </a:r>
            <a:r>
              <a:rPr lang="en-US" sz="1600" b="1" dirty="0">
                <a:solidFill>
                  <a:srgbClr val="FFFF00"/>
                </a:solidFill>
              </a:rPr>
              <a:t>R. Gyan Prabhakar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046"/>
            <a:ext cx="6010500" cy="548700"/>
          </a:xfrm>
        </p:spPr>
        <p:txBody>
          <a:bodyPr/>
          <a:lstStyle/>
          <a:p>
            <a:r>
              <a:rPr lang="en-IN" dirty="0"/>
              <a:t>Abstract &amp; Problem Introduction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E0743A5-6B86-E420-6D9D-99582181B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5200"/>
            <a:ext cx="72390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ABSTRACT</a:t>
            </a:r>
          </a:p>
          <a:p>
            <a:r>
              <a:rPr lang="en-US" dirty="0"/>
              <a:t>AI-driven Digital Twin for real-time solar plant monitoring and performance optimization.</a:t>
            </a:r>
            <a:br>
              <a:rPr lang="en-US" dirty="0"/>
            </a:br>
            <a:r>
              <a:rPr lang="en-US" dirty="0"/>
              <a:t>Uses Internet of Things sensor data with hybrid AI/ML models for early fault detection and accurate energy forecasting.</a:t>
            </a:r>
            <a:br>
              <a:rPr lang="en-US" dirty="0"/>
            </a:br>
            <a:r>
              <a:rPr lang="en-US" dirty="0"/>
              <a:t>Improves energy output, lowers operational costs, and enhances overall plant reliability.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PROBLEM INTRODUCTION</a:t>
            </a:r>
          </a:p>
          <a:p>
            <a:r>
              <a:rPr lang="en-US" dirty="0"/>
              <a:t>Solar plants face hidden faults, slow fault detection, and unexpected downtime.</a:t>
            </a:r>
            <a:br>
              <a:rPr lang="en-US" dirty="0"/>
            </a:br>
            <a:r>
              <a:rPr lang="en-US" dirty="0"/>
              <a:t>Traditional monitoring lacks real-time insights and accurate performance prediction.</a:t>
            </a:r>
            <a:br>
              <a:rPr lang="en-US" dirty="0"/>
            </a:br>
            <a:r>
              <a:rPr lang="en-US" dirty="0"/>
              <a:t>Environmental variations and system aging reduce efficiency and energy yield.</a:t>
            </a:r>
            <a:br>
              <a:rPr lang="en-US" dirty="0"/>
            </a:br>
            <a:r>
              <a:rPr lang="en-US" dirty="0"/>
              <a:t>A predictive, automated AI-based Digital Twin is needed to ensure reliable, efficient, and continuous solar plant operation.</a:t>
            </a:r>
          </a:p>
        </p:txBody>
      </p:sp>
    </p:spTree>
    <p:extLst>
      <p:ext uri="{BB962C8B-B14F-4D97-AF65-F5344CB8AC3E}">
        <p14:creationId xmlns:p14="http://schemas.microsoft.com/office/powerpoint/2010/main" val="64568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DDC0-9178-66A7-5D3C-C9D6B34A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CFD-EC4B-8E98-F75D-983E9D0F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&amp; Research Gap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1CF8F-3FED-6A75-654A-EB9B3F69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1A6001-7B0A-CE17-2DE9-EC4835621B92}"/>
              </a:ext>
            </a:extLst>
          </p:cNvPr>
          <p:cNvSpPr txBox="1"/>
          <p:nvPr/>
        </p:nvSpPr>
        <p:spPr>
          <a:xfrm>
            <a:off x="779100" y="1276351"/>
            <a:ext cx="59265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Literature Review</a:t>
            </a:r>
          </a:p>
          <a:p>
            <a:r>
              <a:rPr lang="en-US" dirty="0"/>
              <a:t>Digital Twins improve real-time monitoring and prediction across industries.</a:t>
            </a:r>
            <a:br>
              <a:rPr lang="en-US" dirty="0"/>
            </a:br>
            <a:r>
              <a:rPr lang="en-US" dirty="0"/>
              <a:t>Solar plants still rely on basic SCADA with limited analytics.</a:t>
            </a:r>
            <a:br>
              <a:rPr lang="en-US" dirty="0"/>
            </a:br>
            <a:r>
              <a:rPr lang="en-US" dirty="0"/>
              <a:t>AI helps forecasting and fault detection but lacks full plant-level integration.</a:t>
            </a:r>
            <a:br>
              <a:rPr lang="en-US" dirty="0"/>
            </a:br>
            <a:r>
              <a:rPr lang="en-US" dirty="0"/>
              <a:t>Hybrid models perform better but need more refinement and data.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600" b="1" dirty="0"/>
              <a:t>Research Gap</a:t>
            </a:r>
          </a:p>
          <a:p>
            <a:r>
              <a:rPr lang="en-US" dirty="0"/>
              <a:t>No complete real-time Digital Twin for solar PV systems.</a:t>
            </a:r>
            <a:br>
              <a:rPr lang="en-US" dirty="0"/>
            </a:br>
            <a:r>
              <a:rPr lang="en-US" dirty="0"/>
              <a:t>No unified system combining forecasting, diagnostics, and control.</a:t>
            </a:r>
            <a:br>
              <a:rPr lang="en-US" dirty="0"/>
            </a:br>
            <a:r>
              <a:rPr lang="en-US" dirty="0"/>
              <a:t>Hybrid physics–ML models for solar are underexplored.</a:t>
            </a:r>
            <a:br>
              <a:rPr lang="en-US" dirty="0"/>
            </a:br>
            <a:r>
              <a:rPr lang="en-US" dirty="0"/>
              <a:t>Cybersecurity needs more attention in DT-based solar setups.</a:t>
            </a:r>
            <a:br>
              <a:rPr lang="en-US" dirty="0"/>
            </a:br>
            <a:r>
              <a:rPr lang="en-US" dirty="0"/>
              <a:t>Very few studies validated using real plant data.</a:t>
            </a:r>
          </a:p>
        </p:txBody>
      </p:sp>
    </p:spTree>
    <p:extLst>
      <p:ext uri="{BB962C8B-B14F-4D97-AF65-F5344CB8AC3E}">
        <p14:creationId xmlns:p14="http://schemas.microsoft.com/office/powerpoint/2010/main" val="80982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2685"/>
            <a:ext cx="4707300" cy="689917"/>
          </a:xfrm>
        </p:spPr>
        <p:txBody>
          <a:bodyPr/>
          <a:lstStyle/>
          <a:p>
            <a:r>
              <a:rPr lang="en-US" dirty="0"/>
              <a:t>AI-Based Prediction System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321D7418-6FA8-E1D9-A1BF-C5561DB4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63218"/>
            <a:ext cx="56388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Utilizes advanced AI and machine learning models to accurately forecast solar power generation under changing weather and plant conditions.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Continuously analyzes real-time IoT sensor data to detect performance deviations and identify potential faults earlier than traditional methods.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Supports both short-term and long-term energy forecasting to improve energy scheduling, grid coordination, and operational planning.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Strengthens plant reliability by enabling proactive maintenance decisions and optimizing system performance before issues escalate.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3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1204-5E52-3E6D-9DB6-CD37D55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Methodology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4A8BB-8FDA-54AD-6F8E-4117D238FA47}"/>
              </a:ext>
            </a:extLst>
          </p:cNvPr>
          <p:cNvSpPr txBox="1"/>
          <p:nvPr/>
        </p:nvSpPr>
        <p:spPr>
          <a:xfrm>
            <a:off x="533400" y="1123950"/>
            <a:ext cx="7467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 real-time AI-based Digital Twin for solar plant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faults early using hybrid AI/ML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accurate short-term and long-term power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plant reliability, reduce downtime, and optimize O&amp;M costs.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800" b="1" dirty="0"/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 real-time data from IoT sensors and SCADA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Digital Twin model using physics + data-driven hybrid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ML models (LSTM, classifiers) for forecasting and fault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DT system with dashboards and alerts for real-time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8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B6AC-6689-3CEB-C0E3-0287444DA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6010500" cy="548700"/>
          </a:xfrm>
        </p:spPr>
        <p:txBody>
          <a:bodyPr/>
          <a:lstStyle/>
          <a:p>
            <a:r>
              <a:rPr lang="en-IN" dirty="0"/>
              <a:t>Results, Figures &amp; Tables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8DEF5E-4C81-8988-0A42-C01A24E4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8442"/>
              </p:ext>
            </p:extLst>
          </p:nvPr>
        </p:nvGraphicFramePr>
        <p:xfrm>
          <a:off x="5842860" y="2269966"/>
          <a:ext cx="624840" cy="15849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41793247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75309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79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74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5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09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5222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078415-88D2-A621-178A-1BF9F84A9726}"/>
              </a:ext>
            </a:extLst>
          </p:cNvPr>
          <p:cNvSpPr txBox="1"/>
          <p:nvPr/>
        </p:nvSpPr>
        <p:spPr>
          <a:xfrm>
            <a:off x="685800" y="1062256"/>
            <a:ext cx="7239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forecasting accuracy: </a:t>
            </a:r>
            <a:r>
              <a:rPr lang="en-US" b="1" dirty="0"/>
              <a:t>R &gt; 0.99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Fault detection accuracy: </a:t>
            </a:r>
            <a:r>
              <a:rPr lang="en-US" b="1" dirty="0"/>
              <a:t>98.3%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performance improvement: </a:t>
            </a:r>
            <a:r>
              <a:rPr lang="en-US" b="1" dirty="0"/>
              <a:t>8–10%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endParaRPr lang="en-US" dirty="0"/>
          </a:p>
          <a:p>
            <a:r>
              <a:rPr lang="en-US" sz="1600" b="1" dirty="0"/>
              <a:t>Figures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Predicted vs. actual power forecasting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ML-based fault detection anomaly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Twin P2D–D2P workflow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endParaRPr lang="en-US" dirty="0"/>
          </a:p>
          <a:p>
            <a:r>
              <a:rPr lang="en-US" sz="1600" b="1" dirty="0"/>
              <a:t>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performance comparison (Accuracy, RMSE, 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metrics for forecasting and fault detection</a:t>
            </a:r>
          </a:p>
        </p:txBody>
      </p:sp>
    </p:spTree>
    <p:extLst>
      <p:ext uri="{BB962C8B-B14F-4D97-AF65-F5344CB8AC3E}">
        <p14:creationId xmlns:p14="http://schemas.microsoft.com/office/powerpoint/2010/main" val="316877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3C73-209B-3224-52D4-6CCD33CA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679DEFA-FF0D-74A4-C992-1A020CCF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12" y="1383329"/>
            <a:ext cx="707398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The AI-driven Digital Twin provides a reliable, real-time view of solar plant health and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High forecasting accuracy (R &gt; 0.99) and strong fault detection (98.3%) prove its effectiveness in real operational conditions.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By combining IoT data with hybrid AI/ML models, the system reduces downtime, improves efficiency, and increases overall energy output.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The approach supports predictive maintenance, smarter decision-making, and builds a more resilient, optimized, and future-ready solar PV operation.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Enhances grid stability by providing more accurate and consistent power forecasts for better energy management.</a:t>
            </a:r>
          </a:p>
        </p:txBody>
      </p:sp>
    </p:spTree>
    <p:extLst>
      <p:ext uri="{BB962C8B-B14F-4D97-AF65-F5344CB8AC3E}">
        <p14:creationId xmlns:p14="http://schemas.microsoft.com/office/powerpoint/2010/main" val="16772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EF4-49AD-30EC-2E26-EFF779D9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75AEC-5491-CF4D-B825-FF350B688305}"/>
              </a:ext>
            </a:extLst>
          </p:cNvPr>
          <p:cNvSpPr txBox="1"/>
          <p:nvPr/>
        </p:nvSpPr>
        <p:spPr>
          <a:xfrm>
            <a:off x="685800" y="971550"/>
            <a:ext cx="80772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Advanced Predictive Maintenance</a:t>
            </a:r>
          </a:p>
          <a:p>
            <a:pPr marL="342900" indent="-342900">
              <a:buAutoNum type="arabicPeriod"/>
            </a:pPr>
            <a:r>
              <a:rPr lang="en-US" dirty="0"/>
              <a:t>Leveraging deeper neural networks and high-resolution IoT data can further improve early fault prediction, reducing unexpected failures by </a:t>
            </a:r>
            <a:r>
              <a:rPr lang="en-US" b="1" dirty="0"/>
              <a:t>35–40%</a:t>
            </a:r>
            <a:r>
              <a:rPr lang="en-US" dirty="0"/>
              <a:t> and increasing system reliability</a:t>
            </a:r>
            <a:r>
              <a:rPr lang="en-US" sz="1600" dirty="0"/>
              <a:t>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dirty="0"/>
              <a:t>2. Multi-Plant Digital Twin Deployment</a:t>
            </a:r>
            <a:br>
              <a:rPr lang="en-US" sz="1600" dirty="0"/>
            </a:br>
            <a:r>
              <a:rPr lang="en-US" dirty="0"/>
              <a:t>Extending the Digital Twin framework across multiple solar sites enables unified monitoring, better fleet analytics, and can increase total energy production by </a:t>
            </a:r>
            <a:r>
              <a:rPr lang="en-US" b="1" dirty="0"/>
              <a:t>15–20%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600" b="1" dirty="0"/>
              <a:t>3. Enhanced OT/SCADA Cybersecurity</a:t>
            </a:r>
            <a:br>
              <a:rPr lang="en-US" sz="1600" dirty="0"/>
            </a:br>
            <a:r>
              <a:rPr lang="en-US" dirty="0"/>
              <a:t>Integrating real-time threat detection and secure communication protocols can reduce cyber-risk incidents by over </a:t>
            </a:r>
            <a:r>
              <a:rPr lang="en-US" b="1" dirty="0"/>
              <a:t>60%</a:t>
            </a:r>
            <a:r>
              <a:rPr lang="en-US" dirty="0"/>
              <a:t>, protecting P2D–D2P operations from attacks.</a:t>
            </a:r>
          </a:p>
          <a:p>
            <a:endParaRPr lang="en-US" dirty="0"/>
          </a:p>
          <a:p>
            <a:r>
              <a:rPr lang="en-US" sz="1600" b="1" dirty="0"/>
              <a:t>4. Automated Real-Time Plant Optimization</a:t>
            </a:r>
            <a:br>
              <a:rPr lang="en-US" sz="1600" dirty="0"/>
            </a:br>
            <a:r>
              <a:rPr lang="en-US" dirty="0"/>
              <a:t>Full automation of D2P commands can optimize inverter settings, cleaning schedules, and load distribution—boosting operational efficiency by </a:t>
            </a:r>
            <a:r>
              <a:rPr lang="en-US" b="1" dirty="0"/>
              <a:t>10–12%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35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7575-CC81-AD33-960D-CEBB5EA1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Acknowledgement &amp; Thanks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44325-A5BD-2623-584E-948CAA41EA29}"/>
              </a:ext>
            </a:extLst>
          </p:cNvPr>
          <p:cNvSpPr txBox="1"/>
          <p:nvPr/>
        </p:nvSpPr>
        <p:spPr>
          <a:xfrm>
            <a:off x="342900" y="1200150"/>
            <a:ext cx="8458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sincerely thank </a:t>
            </a:r>
            <a:r>
              <a:rPr lang="en-US" sz="2000" b="1" dirty="0">
                <a:solidFill>
                  <a:schemeClr val="tx1"/>
                </a:solidFill>
              </a:rPr>
              <a:t>MR. Gyan Prabhakar sir</a:t>
            </a:r>
            <a:r>
              <a:rPr lang="en-US" sz="2000" dirty="0">
                <a:solidFill>
                  <a:schemeClr val="tx1"/>
                </a:solidFill>
              </a:rPr>
              <a:t>(Assistant Professor)</a:t>
            </a:r>
            <a:r>
              <a:rPr lang="en-US" sz="2000" dirty="0"/>
              <a:t>for his continuous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Special thanks to our faculty members and technical mentors for their constant support and valuable feedback.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   Gratitude to our peers, professors, and institutions for academic &amp;</a:t>
            </a:r>
          </a:p>
          <a:p>
            <a:pPr lvl="1"/>
            <a:r>
              <a:rPr lang="en-US" sz="2000" dirty="0"/>
              <a:t>     moral support.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62F743-95D4-A3DD-B7C0-68602B8F0256}"/>
              </a:ext>
            </a:extLst>
          </p:cNvPr>
          <p:cNvSpPr/>
          <p:nvPr/>
        </p:nvSpPr>
        <p:spPr>
          <a:xfrm>
            <a:off x="2362200" y="3481685"/>
            <a:ext cx="3300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4094620441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VGU">
      <a:dk1>
        <a:sysClr val="windowText" lastClr="000000"/>
      </a:dk1>
      <a:lt1>
        <a:sysClr val="window" lastClr="FFFFFF"/>
      </a:lt1>
      <a:dk2>
        <a:srgbClr val="666666"/>
      </a:dk2>
      <a:lt2>
        <a:srgbClr val="812211"/>
      </a:lt2>
      <a:accent1>
        <a:srgbClr val="811811"/>
      </a:accent1>
      <a:accent2>
        <a:srgbClr val="E40059"/>
      </a:accent2>
      <a:accent3>
        <a:srgbClr val="7030A0"/>
      </a:accent3>
      <a:accent4>
        <a:srgbClr val="B8CFFF"/>
      </a:accent4>
      <a:accent5>
        <a:srgbClr val="72A0FF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12763</TotalTime>
  <Words>796</Words>
  <Application>Microsoft Office PowerPoint</Application>
  <PresentationFormat>On-screen Show (16:9)</PresentationFormat>
  <Paragraphs>76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Catamaran Thin</vt:lpstr>
      <vt:lpstr>Calibri</vt:lpstr>
      <vt:lpstr>Albertus Extra Bold</vt:lpstr>
      <vt:lpstr>Catamaran</vt:lpstr>
      <vt:lpstr>Arial</vt:lpstr>
      <vt:lpstr>Dauphin template</vt:lpstr>
      <vt:lpstr>PowerPoint Presentation</vt:lpstr>
      <vt:lpstr>Abstract &amp; Problem Introduction </vt:lpstr>
      <vt:lpstr>Literature Review &amp; Research Gap</vt:lpstr>
      <vt:lpstr>AI-Based Prediction System</vt:lpstr>
      <vt:lpstr>Objectives &amp; Methodology </vt:lpstr>
      <vt:lpstr>Results, Figures &amp; Tables</vt:lpstr>
      <vt:lpstr>Conclusions</vt:lpstr>
      <vt:lpstr>Future Scope</vt:lpstr>
      <vt:lpstr>Acknowledgement &amp; 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mansing sisodiya</cp:lastModifiedBy>
  <cp:revision>791</cp:revision>
  <dcterms:modified xsi:type="dcterms:W3CDTF">2026-04-18T06:47:01Z</dcterms:modified>
</cp:coreProperties>
</file>